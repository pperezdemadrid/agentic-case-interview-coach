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14"/>
  </p:notesMasterIdLst>
  <p:sldIdLst>
    <p:sldId id="256" r:id="rId2"/>
    <p:sldId id="257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5"/>
      <p:bold r:id="rId16"/>
      <p:italic r:id="rId17"/>
      <p:boldItalic r:id="rId18"/>
    </p:embeddedFont>
    <p:embeddedFont>
      <p:font typeface="Didact Gothic" pitchFamily="2" charset="0"/>
      <p:regular r:id="rId19"/>
    </p:embeddedFont>
    <p:embeddedFont>
      <p:font typeface="Libre Franklin" pitchFamily="2" charset="77"/>
      <p:regular r:id="rId20"/>
      <p:bold r:id="rId21"/>
      <p:italic r:id="rId22"/>
      <p:boldItalic r:id="rId23"/>
    </p:embeddedFont>
    <p:embeddedFont>
      <p:font typeface="Poppins" pitchFamily="2" charset="77"/>
      <p:regular r:id="rId24"/>
      <p:bold r:id="rId25"/>
      <p:italic r:id="rId26"/>
      <p:boldItalic r:id="rId27"/>
    </p:embeddedFont>
    <p:embeddedFont>
      <p:font typeface="Raleway" pitchFamily="2" charset="77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6E5099FB-0D72-7C4B-B018-D690DC24BAC5}">
          <p14:sldIdLst>
            <p14:sldId id="256"/>
            <p14:sldId id="257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25498D-FC51-442F-AA59-5E9E533DD07B}">
  <a:tblStyle styleId="{5D25498D-FC51-442F-AA59-5E9E533DD0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3"/>
    <p:restoredTop sz="94719"/>
  </p:normalViewPr>
  <p:slideViewPr>
    <p:cSldViewPr snapToGrid="0">
      <p:cViewPr>
        <p:scale>
          <a:sx n="152" d="100"/>
          <a:sy n="152" d="100"/>
        </p:scale>
        <p:origin x="328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b1324a7d3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b1324a7d30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>
          <a:extLst>
            <a:ext uri="{FF2B5EF4-FFF2-40B4-BE49-F238E27FC236}">
              <a16:creationId xmlns:a16="http://schemas.microsoft.com/office/drawing/2014/main" id="{3518AC8C-C717-AFFA-67D2-9866CCB50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b1022eedc3_0_24:notes">
            <a:extLst>
              <a:ext uri="{FF2B5EF4-FFF2-40B4-BE49-F238E27FC236}">
                <a16:creationId xmlns:a16="http://schemas.microsoft.com/office/drawing/2014/main" id="{6B0CACC0-103C-C9F2-9725-B923D156C8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b1022eedc3_0_24:notes">
            <a:extLst>
              <a:ext uri="{FF2B5EF4-FFF2-40B4-BE49-F238E27FC236}">
                <a16:creationId xmlns:a16="http://schemas.microsoft.com/office/drawing/2014/main" id="{DF8C0954-8218-D63A-F4A7-967B544895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9050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>
          <a:extLst>
            <a:ext uri="{FF2B5EF4-FFF2-40B4-BE49-F238E27FC236}">
              <a16:creationId xmlns:a16="http://schemas.microsoft.com/office/drawing/2014/main" id="{823186A9-1904-396D-B523-CFBCECD25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b1022eedc3_0_24:notes">
            <a:extLst>
              <a:ext uri="{FF2B5EF4-FFF2-40B4-BE49-F238E27FC236}">
                <a16:creationId xmlns:a16="http://schemas.microsoft.com/office/drawing/2014/main" id="{935A5C0D-D967-10D8-9EEC-E76772F6C7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b1022eedc3_0_24:notes">
            <a:extLst>
              <a:ext uri="{FF2B5EF4-FFF2-40B4-BE49-F238E27FC236}">
                <a16:creationId xmlns:a16="http://schemas.microsoft.com/office/drawing/2014/main" id="{979AE5D9-4AB9-B0AA-4506-51414FBACF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9899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>
          <a:extLst>
            <a:ext uri="{FF2B5EF4-FFF2-40B4-BE49-F238E27FC236}">
              <a16:creationId xmlns:a16="http://schemas.microsoft.com/office/drawing/2014/main" id="{C084CB9C-9EA6-EC8A-6B31-A3A06B401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b1022eedc3_0_24:notes">
            <a:extLst>
              <a:ext uri="{FF2B5EF4-FFF2-40B4-BE49-F238E27FC236}">
                <a16:creationId xmlns:a16="http://schemas.microsoft.com/office/drawing/2014/main" id="{D8607FAB-D0C0-62CB-E471-D7C392BA3A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b1022eedc3_0_24:notes">
            <a:extLst>
              <a:ext uri="{FF2B5EF4-FFF2-40B4-BE49-F238E27FC236}">
                <a16:creationId xmlns:a16="http://schemas.microsoft.com/office/drawing/2014/main" id="{B6538CD1-A557-34C1-FEF6-B91F6D8B49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7203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>
          <a:extLst>
            <a:ext uri="{FF2B5EF4-FFF2-40B4-BE49-F238E27FC236}">
              <a16:creationId xmlns:a16="http://schemas.microsoft.com/office/drawing/2014/main" id="{9EF7D6D3-5830-A577-9EB3-2A90D75B2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b1022eedc3_0_24:notes">
            <a:extLst>
              <a:ext uri="{FF2B5EF4-FFF2-40B4-BE49-F238E27FC236}">
                <a16:creationId xmlns:a16="http://schemas.microsoft.com/office/drawing/2014/main" id="{E03B7593-AA12-BE22-E476-2ACD140A24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b1022eedc3_0_24:notes">
            <a:extLst>
              <a:ext uri="{FF2B5EF4-FFF2-40B4-BE49-F238E27FC236}">
                <a16:creationId xmlns:a16="http://schemas.microsoft.com/office/drawing/2014/main" id="{D37F8359-E06C-2EF9-12C7-0ABBCB686D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9442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>
          <a:extLst>
            <a:ext uri="{FF2B5EF4-FFF2-40B4-BE49-F238E27FC236}">
              <a16:creationId xmlns:a16="http://schemas.microsoft.com/office/drawing/2014/main" id="{EAD4F558-9833-CD69-7103-F23BA6E7C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b1022eedc3_0_24:notes">
            <a:extLst>
              <a:ext uri="{FF2B5EF4-FFF2-40B4-BE49-F238E27FC236}">
                <a16:creationId xmlns:a16="http://schemas.microsoft.com/office/drawing/2014/main" id="{C48F4478-256A-8F00-8EF9-660346CD1C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b1022eedc3_0_24:notes">
            <a:extLst>
              <a:ext uri="{FF2B5EF4-FFF2-40B4-BE49-F238E27FC236}">
                <a16:creationId xmlns:a16="http://schemas.microsoft.com/office/drawing/2014/main" id="{06AF4AD2-2777-98A4-6CA6-001091CF28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7087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>
          <a:extLst>
            <a:ext uri="{FF2B5EF4-FFF2-40B4-BE49-F238E27FC236}">
              <a16:creationId xmlns:a16="http://schemas.microsoft.com/office/drawing/2014/main" id="{696D315D-43AC-9AE1-81EA-0D89210A0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b1022eedc3_0_24:notes">
            <a:extLst>
              <a:ext uri="{FF2B5EF4-FFF2-40B4-BE49-F238E27FC236}">
                <a16:creationId xmlns:a16="http://schemas.microsoft.com/office/drawing/2014/main" id="{FD4F0074-33AE-93E2-21CF-87164A622A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b1022eedc3_0_24:notes">
            <a:extLst>
              <a:ext uri="{FF2B5EF4-FFF2-40B4-BE49-F238E27FC236}">
                <a16:creationId xmlns:a16="http://schemas.microsoft.com/office/drawing/2014/main" id="{2F2F0468-477E-DFE8-ABA9-8ACF676FC3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7444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>
          <a:extLst>
            <a:ext uri="{FF2B5EF4-FFF2-40B4-BE49-F238E27FC236}">
              <a16:creationId xmlns:a16="http://schemas.microsoft.com/office/drawing/2014/main" id="{C77B1B49-D275-1964-1453-1B7A4CAFA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b1022eedc3_0_24:notes">
            <a:extLst>
              <a:ext uri="{FF2B5EF4-FFF2-40B4-BE49-F238E27FC236}">
                <a16:creationId xmlns:a16="http://schemas.microsoft.com/office/drawing/2014/main" id="{2AB5F9A6-1086-2460-606C-F21264F98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b1022eedc3_0_24:notes">
            <a:extLst>
              <a:ext uri="{FF2B5EF4-FFF2-40B4-BE49-F238E27FC236}">
                <a16:creationId xmlns:a16="http://schemas.microsoft.com/office/drawing/2014/main" id="{577217A3-926F-2866-E65F-CC7590CD4A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556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>
          <a:extLst>
            <a:ext uri="{FF2B5EF4-FFF2-40B4-BE49-F238E27FC236}">
              <a16:creationId xmlns:a16="http://schemas.microsoft.com/office/drawing/2014/main" id="{634C7A4C-E1DD-356D-726F-CDA2F22BF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b1022eedc3_0_24:notes">
            <a:extLst>
              <a:ext uri="{FF2B5EF4-FFF2-40B4-BE49-F238E27FC236}">
                <a16:creationId xmlns:a16="http://schemas.microsoft.com/office/drawing/2014/main" id="{AA6D7614-35A4-8378-54EB-9BD44DA46F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b1022eedc3_0_24:notes">
            <a:extLst>
              <a:ext uri="{FF2B5EF4-FFF2-40B4-BE49-F238E27FC236}">
                <a16:creationId xmlns:a16="http://schemas.microsoft.com/office/drawing/2014/main" id="{8743A842-4881-D054-955C-50B2A75B4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088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>
          <a:extLst>
            <a:ext uri="{FF2B5EF4-FFF2-40B4-BE49-F238E27FC236}">
              <a16:creationId xmlns:a16="http://schemas.microsoft.com/office/drawing/2014/main" id="{586B6C18-E0B4-5414-ACC6-041C1FC0B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b1022eedc3_0_24:notes">
            <a:extLst>
              <a:ext uri="{FF2B5EF4-FFF2-40B4-BE49-F238E27FC236}">
                <a16:creationId xmlns:a16="http://schemas.microsoft.com/office/drawing/2014/main" id="{1407B1C0-DD2D-A268-6784-AAABE90633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b1022eedc3_0_24:notes">
            <a:extLst>
              <a:ext uri="{FF2B5EF4-FFF2-40B4-BE49-F238E27FC236}">
                <a16:creationId xmlns:a16="http://schemas.microsoft.com/office/drawing/2014/main" id="{707FFC1E-F1A3-4A13-6A03-BD57F15205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46085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>
          <a:extLst>
            <a:ext uri="{FF2B5EF4-FFF2-40B4-BE49-F238E27FC236}">
              <a16:creationId xmlns:a16="http://schemas.microsoft.com/office/drawing/2014/main" id="{6DDD874A-E328-F39F-1040-20F237ADE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135e18421cc_13_10:notes">
            <a:extLst>
              <a:ext uri="{FF2B5EF4-FFF2-40B4-BE49-F238E27FC236}">
                <a16:creationId xmlns:a16="http://schemas.microsoft.com/office/drawing/2014/main" id="{9AEAE2B8-17C1-0A99-EDDB-476C0BA96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135e18421cc_13_10:notes">
            <a:extLst>
              <a:ext uri="{FF2B5EF4-FFF2-40B4-BE49-F238E27FC236}">
                <a16:creationId xmlns:a16="http://schemas.microsoft.com/office/drawing/2014/main" id="{12695D39-6125-AC49-84C0-22DE279C28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0311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55125" y="814525"/>
            <a:ext cx="6350100" cy="26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355125" y="374585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12" name="Google Shape;12;p2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047175" y="2571975"/>
            <a:ext cx="4383600" cy="12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4047175" y="1321975"/>
            <a:ext cx="13326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>
            <a:spLocks noGrp="1"/>
          </p:cNvSpPr>
          <p:nvPr>
            <p:ph type="pic" idx="3"/>
          </p:nvPr>
        </p:nvSpPr>
        <p:spPr>
          <a:xfrm>
            <a:off x="713225" y="539500"/>
            <a:ext cx="2760600" cy="406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5056151" y="2574154"/>
            <a:ext cx="27690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1318850" y="2574154"/>
            <a:ext cx="27690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3"/>
          </p:nvPr>
        </p:nvSpPr>
        <p:spPr>
          <a:xfrm>
            <a:off x="1318850" y="1771900"/>
            <a:ext cx="2769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4"/>
          </p:nvPr>
        </p:nvSpPr>
        <p:spPr>
          <a:xfrm>
            <a:off x="5056153" y="1771900"/>
            <a:ext cx="2769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30" name="Google Shape;30;p5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31" name="Google Shape;31;p5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5" name="Google Shape;35;p6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36" name="Google Shape;36;p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7" name="Google Shape;37;p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811975" y="2001200"/>
            <a:ext cx="4294800" cy="22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811975" y="1017225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42" name="Google Shape;42;p7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43" name="Google Shape;43;p7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4" name="Google Shape;44;p7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7" name="Google Shape;47;p8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48" name="Google Shape;48;p8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9" name="Google Shape;49;p8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53" name="Google Shape;53;p9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54" name="Google Shape;54;p9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5" name="Google Shape;55;p9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303775"/>
            <a:ext cx="6576000" cy="16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62" name="Google Shape;62;p11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63" name="Google Shape;63;p11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4" name="Google Shape;64;p11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611324"/>
            <a:ext cx="734700" cy="50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3044627"/>
            <a:ext cx="734700" cy="50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75" y="1611324"/>
            <a:ext cx="734700" cy="50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75" y="3044627"/>
            <a:ext cx="734700" cy="50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6" hasCustomPrompt="1"/>
          </p:nvPr>
        </p:nvSpPr>
        <p:spPr>
          <a:xfrm>
            <a:off x="6118550" y="1611324"/>
            <a:ext cx="734700" cy="50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7" hasCustomPrompt="1"/>
          </p:nvPr>
        </p:nvSpPr>
        <p:spPr>
          <a:xfrm>
            <a:off x="6118550" y="3044627"/>
            <a:ext cx="734700" cy="504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"/>
          </p:nvPr>
        </p:nvSpPr>
        <p:spPr>
          <a:xfrm>
            <a:off x="720000" y="22934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8"/>
          </p:nvPr>
        </p:nvSpPr>
        <p:spPr>
          <a:xfrm>
            <a:off x="3419275" y="22934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9"/>
          </p:nvPr>
        </p:nvSpPr>
        <p:spPr>
          <a:xfrm>
            <a:off x="6118550" y="22934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3"/>
          </p:nvPr>
        </p:nvSpPr>
        <p:spPr>
          <a:xfrm>
            <a:off x="720000" y="3726825"/>
            <a:ext cx="23814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14"/>
          </p:nvPr>
        </p:nvSpPr>
        <p:spPr>
          <a:xfrm>
            <a:off x="3419275" y="372682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5"/>
          </p:nvPr>
        </p:nvSpPr>
        <p:spPr>
          <a:xfrm>
            <a:off x="6118550" y="3726825"/>
            <a:ext cx="24792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80" name="Google Shape;80;p13"/>
          <p:cNvGrpSpPr/>
          <p:nvPr/>
        </p:nvGrpSpPr>
        <p:grpSpPr>
          <a:xfrm>
            <a:off x="0" y="0"/>
            <a:ext cx="9144000" cy="312600"/>
            <a:chOff x="0" y="0"/>
            <a:chExt cx="9144000" cy="312600"/>
          </a:xfrm>
        </p:grpSpPr>
        <p:sp>
          <p:nvSpPr>
            <p:cNvPr id="81" name="Google Shape;81;p13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>
            <a:spLocks noGrp="1"/>
          </p:cNvSpPr>
          <p:nvPr>
            <p:ph type="title"/>
          </p:nvPr>
        </p:nvSpPr>
        <p:spPr>
          <a:xfrm>
            <a:off x="1355163" y="7312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subTitle" idx="1"/>
          </p:nvPr>
        </p:nvSpPr>
        <p:spPr>
          <a:xfrm>
            <a:off x="1355125" y="1984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/>
          <p:nvPr/>
        </p:nvSpPr>
        <p:spPr>
          <a:xfrm>
            <a:off x="1355125" y="3611950"/>
            <a:ext cx="48105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</a:t>
            </a:r>
            <a:r>
              <a:rPr lang="en" sz="10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sz="1000" b="1" u="sng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grpSp>
        <p:nvGrpSpPr>
          <p:cNvPr id="87" name="Google Shape;87;p14"/>
          <p:cNvGrpSpPr/>
          <p:nvPr/>
        </p:nvGrpSpPr>
        <p:grpSpPr>
          <a:xfrm>
            <a:off x="-8400" y="0"/>
            <a:ext cx="728475" cy="5163250"/>
            <a:chOff x="-8400" y="0"/>
            <a:chExt cx="728475" cy="5163250"/>
          </a:xfrm>
        </p:grpSpPr>
        <p:sp>
          <p:nvSpPr>
            <p:cNvPr id="88" name="Google Shape;88;p14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5"/>
          <p:cNvGrpSpPr/>
          <p:nvPr/>
        </p:nvGrpSpPr>
        <p:grpSpPr>
          <a:xfrm rot="10800000">
            <a:off x="8415525" y="0"/>
            <a:ext cx="728475" cy="5163250"/>
            <a:chOff x="-8400" y="0"/>
            <a:chExt cx="728475" cy="5163250"/>
          </a:xfrm>
        </p:grpSpPr>
        <p:sp>
          <p:nvSpPr>
            <p:cNvPr id="92" name="Google Shape;92;p15"/>
            <p:cNvSpPr/>
            <p:nvPr/>
          </p:nvSpPr>
          <p:spPr>
            <a:xfrm rot="5400000">
              <a:off x="-1968300" y="2474950"/>
              <a:ext cx="4648200" cy="728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-8325" y="0"/>
              <a:ext cx="728400" cy="63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6"/>
          <p:cNvGrpSpPr/>
          <p:nvPr/>
        </p:nvGrpSpPr>
        <p:grpSpPr>
          <a:xfrm rot="10800000">
            <a:off x="0" y="4830900"/>
            <a:ext cx="9144000" cy="312600"/>
            <a:chOff x="0" y="0"/>
            <a:chExt cx="9144000" cy="312600"/>
          </a:xfrm>
        </p:grpSpPr>
        <p:sp>
          <p:nvSpPr>
            <p:cNvPr id="96" name="Google Shape;96;p16"/>
            <p:cNvSpPr/>
            <p:nvPr/>
          </p:nvSpPr>
          <p:spPr>
            <a:xfrm>
              <a:off x="0" y="0"/>
              <a:ext cx="9144000" cy="312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0" y="0"/>
              <a:ext cx="713100" cy="31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○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■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○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■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●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○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idact Gothic"/>
              <a:buChar char="■"/>
              <a:defRPr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ctrTitle"/>
          </p:nvPr>
        </p:nvSpPr>
        <p:spPr>
          <a:xfrm>
            <a:off x="1355125" y="814525"/>
            <a:ext cx="6567544" cy="26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Agentic AI</a:t>
            </a:r>
            <a:br>
              <a:rPr lang="en-GB" dirty="0"/>
            </a:br>
            <a:r>
              <a:rPr lang="en-GB" b="0" dirty="0"/>
              <a:t>for Business Strategy Learning</a:t>
            </a:r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1"/>
          </p:nvPr>
        </p:nvSpPr>
        <p:spPr>
          <a:xfrm>
            <a:off x="1355124" y="3745850"/>
            <a:ext cx="4956153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Paloma Pérez de Madrid – MSc Artificial Intelligence</a:t>
            </a:r>
          </a:p>
        </p:txBody>
      </p:sp>
      <p:cxnSp>
        <p:nvCxnSpPr>
          <p:cNvPr id="110" name="Google Shape;110;p20"/>
          <p:cNvCxnSpPr/>
          <p:nvPr/>
        </p:nvCxnSpPr>
        <p:spPr>
          <a:xfrm>
            <a:off x="1431100" y="3636300"/>
            <a:ext cx="5835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title" idx="2"/>
          </p:nvPr>
        </p:nvSpPr>
        <p:spPr>
          <a:xfrm>
            <a:off x="720000" y="1611324"/>
            <a:ext cx="7347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17" name="Google Shape;117;p21"/>
          <p:cNvSpPr txBox="1">
            <a:spLocks noGrp="1"/>
          </p:cNvSpPr>
          <p:nvPr>
            <p:ph type="title" idx="3"/>
          </p:nvPr>
        </p:nvSpPr>
        <p:spPr>
          <a:xfrm>
            <a:off x="720000" y="3044627"/>
            <a:ext cx="7347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title" idx="4"/>
          </p:nvPr>
        </p:nvSpPr>
        <p:spPr>
          <a:xfrm>
            <a:off x="3419275" y="1611324"/>
            <a:ext cx="7347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title" idx="5"/>
          </p:nvPr>
        </p:nvSpPr>
        <p:spPr>
          <a:xfrm>
            <a:off x="3419275" y="3044627"/>
            <a:ext cx="7347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title" idx="6"/>
          </p:nvPr>
        </p:nvSpPr>
        <p:spPr>
          <a:xfrm>
            <a:off x="6118550" y="1611324"/>
            <a:ext cx="7347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title" idx="7"/>
          </p:nvPr>
        </p:nvSpPr>
        <p:spPr>
          <a:xfrm>
            <a:off x="6118550" y="3044627"/>
            <a:ext cx="7347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subTitle" idx="1"/>
          </p:nvPr>
        </p:nvSpPr>
        <p:spPr>
          <a:xfrm>
            <a:off x="719951" y="2248981"/>
            <a:ext cx="2305500" cy="67071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s-ES" dirty="0" err="1"/>
              <a:t>Problem</a:t>
            </a:r>
            <a:r>
              <a:rPr lang="es-ES" dirty="0"/>
              <a:t> &amp; </a:t>
            </a:r>
            <a:r>
              <a:rPr lang="es-ES" dirty="0" err="1"/>
              <a:t>Motivation</a:t>
            </a:r>
            <a:endParaRPr lang="es-ES" dirty="0"/>
          </a:p>
        </p:txBody>
      </p:sp>
      <p:sp>
        <p:nvSpPr>
          <p:cNvPr id="123" name="Google Shape;123;p21"/>
          <p:cNvSpPr txBox="1">
            <a:spLocks noGrp="1"/>
          </p:cNvSpPr>
          <p:nvPr>
            <p:ph type="subTitle" idx="8"/>
          </p:nvPr>
        </p:nvSpPr>
        <p:spPr>
          <a:xfrm>
            <a:off x="3419275" y="2185873"/>
            <a:ext cx="2305500" cy="6707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 err="1"/>
              <a:t>Proposed</a:t>
            </a:r>
            <a:r>
              <a:rPr lang="es-ES" dirty="0"/>
              <a:t> </a:t>
            </a:r>
            <a:r>
              <a:rPr lang="es-ES" dirty="0" err="1"/>
              <a:t>Solution</a:t>
            </a:r>
            <a:r>
              <a:rPr lang="en" dirty="0"/>
              <a:t> </a:t>
            </a:r>
            <a:endParaRPr dirty="0"/>
          </a:p>
        </p:txBody>
      </p:sp>
      <p:sp>
        <p:nvSpPr>
          <p:cNvPr id="124" name="Google Shape;124;p21"/>
          <p:cNvSpPr txBox="1">
            <a:spLocks noGrp="1"/>
          </p:cNvSpPr>
          <p:nvPr>
            <p:ph type="subTitle" idx="9"/>
          </p:nvPr>
        </p:nvSpPr>
        <p:spPr>
          <a:xfrm>
            <a:off x="6118550" y="2185874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 err="1"/>
              <a:t>Why</a:t>
            </a:r>
            <a:r>
              <a:rPr lang="es-ES" dirty="0"/>
              <a:t> </a:t>
            </a:r>
            <a:r>
              <a:rPr lang="es-ES" dirty="0" err="1"/>
              <a:t>Agentic</a:t>
            </a:r>
            <a:r>
              <a:rPr lang="es-ES" dirty="0"/>
              <a:t> AI?</a:t>
            </a:r>
            <a:r>
              <a:rPr lang="en" dirty="0"/>
              <a:t> </a:t>
            </a:r>
            <a:endParaRPr dirty="0"/>
          </a:p>
        </p:txBody>
      </p:sp>
      <p:sp>
        <p:nvSpPr>
          <p:cNvPr id="125" name="Google Shape;125;p21"/>
          <p:cNvSpPr txBox="1">
            <a:spLocks noGrp="1"/>
          </p:cNvSpPr>
          <p:nvPr>
            <p:ph type="subTitle" idx="13"/>
          </p:nvPr>
        </p:nvSpPr>
        <p:spPr>
          <a:xfrm>
            <a:off x="720000" y="3619248"/>
            <a:ext cx="2381400" cy="6991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 err="1"/>
              <a:t>System</a:t>
            </a:r>
            <a:r>
              <a:rPr lang="es-ES" dirty="0"/>
              <a:t> </a:t>
            </a:r>
            <a:r>
              <a:rPr lang="es-ES" dirty="0" err="1"/>
              <a:t>Overview</a:t>
            </a:r>
            <a:r>
              <a:rPr lang="es-ES" dirty="0"/>
              <a:t> (High </a:t>
            </a:r>
            <a:r>
              <a:rPr lang="es-ES" dirty="0" err="1"/>
              <a:t>Level</a:t>
            </a:r>
            <a:r>
              <a:rPr lang="es-ES" dirty="0"/>
              <a:t>)</a:t>
            </a:r>
            <a:r>
              <a:rPr lang="en" dirty="0"/>
              <a:t> </a:t>
            </a:r>
            <a:endParaRPr dirty="0"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14"/>
          </p:nvPr>
        </p:nvSpPr>
        <p:spPr>
          <a:xfrm>
            <a:off x="3419275" y="3619248"/>
            <a:ext cx="2305500" cy="93737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L</a:t>
            </a:r>
            <a:r>
              <a:rPr lang="es-ES" dirty="0" err="1"/>
              <a:t>earning</a:t>
            </a:r>
            <a:r>
              <a:rPr lang="es-ES" dirty="0"/>
              <a:t> </a:t>
            </a:r>
            <a:r>
              <a:rPr lang="es-ES" dirty="0" err="1"/>
              <a:t>Evaluation</a:t>
            </a:r>
            <a:r>
              <a:rPr lang="es-ES" dirty="0"/>
              <a:t> &amp; </a:t>
            </a:r>
            <a:r>
              <a:rPr lang="es-ES" dirty="0" err="1"/>
              <a:t>Contribution</a:t>
            </a:r>
            <a:r>
              <a:rPr lang="en" dirty="0"/>
              <a:t> </a:t>
            </a:r>
            <a:endParaRPr dirty="0"/>
          </a:p>
        </p:txBody>
      </p:sp>
      <p:sp>
        <p:nvSpPr>
          <p:cNvPr id="127" name="Google Shape;127;p21"/>
          <p:cNvSpPr txBox="1">
            <a:spLocks noGrp="1"/>
          </p:cNvSpPr>
          <p:nvPr>
            <p:ph type="subTitle" idx="15"/>
          </p:nvPr>
        </p:nvSpPr>
        <p:spPr>
          <a:xfrm>
            <a:off x="6118550" y="3619248"/>
            <a:ext cx="1527063" cy="6377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 err="1"/>
              <a:t>Feasibility</a:t>
            </a:r>
            <a:r>
              <a:rPr lang="es-ES" dirty="0"/>
              <a:t> &amp; </a:t>
            </a:r>
            <a:r>
              <a:rPr lang="es-ES" dirty="0" err="1"/>
              <a:t>Scope</a:t>
            </a:r>
            <a:r>
              <a:rPr lang="en" dirty="0"/>
              <a:t> </a:t>
            </a:r>
            <a:endParaRPr dirty="0"/>
          </a:p>
        </p:txBody>
      </p:sp>
      <p:cxnSp>
        <p:nvCxnSpPr>
          <p:cNvPr id="128" name="Google Shape;128;p21"/>
          <p:cNvCxnSpPr/>
          <p:nvPr/>
        </p:nvCxnSpPr>
        <p:spPr>
          <a:xfrm>
            <a:off x="821254" y="3560313"/>
            <a:ext cx="1205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21"/>
          <p:cNvCxnSpPr/>
          <p:nvPr/>
        </p:nvCxnSpPr>
        <p:spPr>
          <a:xfrm>
            <a:off x="3503733" y="3560313"/>
            <a:ext cx="1205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21"/>
          <p:cNvCxnSpPr/>
          <p:nvPr/>
        </p:nvCxnSpPr>
        <p:spPr>
          <a:xfrm>
            <a:off x="6143983" y="3560313"/>
            <a:ext cx="1205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21"/>
          <p:cNvCxnSpPr/>
          <p:nvPr/>
        </p:nvCxnSpPr>
        <p:spPr>
          <a:xfrm>
            <a:off x="821254" y="2116088"/>
            <a:ext cx="1205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" name="Google Shape;132;p21"/>
          <p:cNvCxnSpPr/>
          <p:nvPr/>
        </p:nvCxnSpPr>
        <p:spPr>
          <a:xfrm>
            <a:off x="3503733" y="2116088"/>
            <a:ext cx="1205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" name="Google Shape;133;p21"/>
          <p:cNvCxnSpPr/>
          <p:nvPr/>
        </p:nvCxnSpPr>
        <p:spPr>
          <a:xfrm>
            <a:off x="6143983" y="2116088"/>
            <a:ext cx="1205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>
          <a:extLst>
            <a:ext uri="{FF2B5EF4-FFF2-40B4-BE49-F238E27FC236}">
              <a16:creationId xmlns:a16="http://schemas.microsoft.com/office/drawing/2014/main" id="{115637EB-F2E2-07D5-FA20-6B0012645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">
            <a:extLst>
              <a:ext uri="{FF2B5EF4-FFF2-40B4-BE49-F238E27FC236}">
                <a16:creationId xmlns:a16="http://schemas.microsoft.com/office/drawing/2014/main" id="{1FCA0885-B584-2DD5-9C87-611BF19515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1" dirty="0" err="1"/>
              <a:t>Current</a:t>
            </a:r>
            <a:r>
              <a:rPr lang="es-ES" b="1" dirty="0"/>
              <a:t> </a:t>
            </a:r>
            <a:r>
              <a:rPr lang="es-ES" b="1" dirty="0" err="1"/>
              <a:t>challenge</a:t>
            </a:r>
            <a:r>
              <a:rPr lang="es-ES" b="1" dirty="0"/>
              <a:t> </a:t>
            </a:r>
            <a:r>
              <a:rPr lang="es-ES" b="0" dirty="0"/>
              <a:t>in </a:t>
            </a:r>
            <a:r>
              <a:rPr lang="es-ES" b="0" dirty="0" err="1"/>
              <a:t>strategy</a:t>
            </a:r>
            <a:r>
              <a:rPr lang="es-ES" b="0" dirty="0"/>
              <a:t> </a:t>
            </a:r>
            <a:r>
              <a:rPr lang="es-ES" b="0" dirty="0" err="1"/>
              <a:t>education</a:t>
            </a:r>
            <a:endParaRPr b="0" dirty="0"/>
          </a:p>
        </p:txBody>
      </p:sp>
      <p:sp>
        <p:nvSpPr>
          <p:cNvPr id="2" name="Google Shape;116;p21">
            <a:extLst>
              <a:ext uri="{FF2B5EF4-FFF2-40B4-BE49-F238E27FC236}">
                <a16:creationId xmlns:a16="http://schemas.microsoft.com/office/drawing/2014/main" id="{90A93FD6-063E-23E8-2358-F2F92F62F84F}"/>
              </a:ext>
            </a:extLst>
          </p:cNvPr>
          <p:cNvSpPr txBox="1">
            <a:spLocks/>
          </p:cNvSpPr>
          <p:nvPr/>
        </p:nvSpPr>
        <p:spPr>
          <a:xfrm>
            <a:off x="166750" y="-133258"/>
            <a:ext cx="7347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b="1" dirty="0">
                <a:latin typeface="Poppins" pitchFamily="2" charset="77"/>
                <a:cs typeface="Poppins" pitchFamily="2" charset="77"/>
              </a:rPr>
              <a:t>01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FC4FF15-926F-1C9D-AF4C-90D717C1E7EC}"/>
              </a:ext>
            </a:extLst>
          </p:cNvPr>
          <p:cNvSpPr txBox="1"/>
          <p:nvPr/>
        </p:nvSpPr>
        <p:spPr>
          <a:xfrm>
            <a:off x="764525" y="30160"/>
            <a:ext cx="25041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s-ES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Problem</a:t>
            </a:r>
            <a:r>
              <a:rPr lang="es-ES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&amp; </a:t>
            </a:r>
            <a:r>
              <a:rPr lang="es-ES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Motivation</a:t>
            </a:r>
            <a:endParaRPr lang="es-ES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8DB718F-BE1D-6F38-48F5-46BF91866961}"/>
              </a:ext>
            </a:extLst>
          </p:cNvPr>
          <p:cNvSpPr txBox="1"/>
          <p:nvPr/>
        </p:nvSpPr>
        <p:spPr>
          <a:xfrm>
            <a:off x="6093475" y="0"/>
            <a:ext cx="30505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s-ES" b="1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01 </a:t>
            </a:r>
            <a:r>
              <a:rPr lang="es-ES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02 03 04 05 06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83FCCEC-6ED2-0636-FBF0-5A64957B00B2}"/>
              </a:ext>
            </a:extLst>
          </p:cNvPr>
          <p:cNvSpPr txBox="1"/>
          <p:nvPr/>
        </p:nvSpPr>
        <p:spPr>
          <a:xfrm>
            <a:off x="720000" y="1451806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latin typeface="Didact Gothic" pitchFamily="2" charset="0"/>
                <a:cs typeface="Poppins" pitchFamily="2" charset="77"/>
              </a:rPr>
              <a:t>Business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strategy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is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mostly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taught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through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b="1" dirty="0" err="1">
                <a:latin typeface="Didact Gothic" pitchFamily="2" charset="0"/>
                <a:cs typeface="Poppins" pitchFamily="2" charset="77"/>
              </a:rPr>
              <a:t>static</a:t>
            </a:r>
            <a:r>
              <a:rPr lang="es-ES" sz="1200" b="1" dirty="0">
                <a:latin typeface="Didact Gothic" pitchFamily="2" charset="0"/>
                <a:cs typeface="Poppins" pitchFamily="2" charset="77"/>
              </a:rPr>
              <a:t> case </a:t>
            </a:r>
            <a:r>
              <a:rPr lang="es-ES" sz="1200" b="1" dirty="0" err="1">
                <a:latin typeface="Didact Gothic" pitchFamily="2" charset="0"/>
                <a:cs typeface="Poppins" pitchFamily="2" charset="77"/>
              </a:rPr>
              <a:t>studies</a:t>
            </a:r>
            <a:endParaRPr lang="es-ES" sz="1200" dirty="0">
              <a:latin typeface="Didact Gothic" pitchFamily="2" charset="0"/>
              <a:cs typeface="Poppins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 err="1">
                <a:latin typeface="Didact Gothic" pitchFamily="2" charset="0"/>
                <a:cs typeface="Poppins" pitchFamily="2" charset="77"/>
              </a:rPr>
              <a:t>Students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analyse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past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decisions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but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rarely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b="1" dirty="0" err="1">
                <a:latin typeface="Didact Gothic" pitchFamily="2" charset="0"/>
                <a:cs typeface="Poppins" pitchFamily="2" charset="77"/>
              </a:rPr>
              <a:t>experience</a:t>
            </a:r>
            <a:r>
              <a:rPr lang="es-ES" sz="1200" b="1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b="1" dirty="0" err="1">
                <a:latin typeface="Didact Gothic" pitchFamily="2" charset="0"/>
                <a:cs typeface="Poppins" pitchFamily="2" charset="77"/>
              </a:rPr>
              <a:t>strategic</a:t>
            </a:r>
            <a:r>
              <a:rPr lang="es-ES" sz="1200" b="1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b="1" dirty="0" err="1">
                <a:latin typeface="Didact Gothic" pitchFamily="2" charset="0"/>
                <a:cs typeface="Poppins" pitchFamily="2" charset="77"/>
              </a:rPr>
              <a:t>trade-offs</a:t>
            </a:r>
            <a:endParaRPr lang="es-ES" sz="1200" dirty="0">
              <a:latin typeface="Didact Gothic" pitchFamily="2" charset="0"/>
              <a:cs typeface="Poppins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 err="1">
                <a:latin typeface="Didact Gothic" pitchFamily="2" charset="0"/>
                <a:cs typeface="Poppins" pitchFamily="2" charset="77"/>
              </a:rPr>
              <a:t>Limited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opportunities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to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practice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sz="1200" dirty="0" err="1">
                <a:latin typeface="Didact Gothic" pitchFamily="2" charset="0"/>
                <a:cs typeface="Poppins" pitchFamily="2" charset="77"/>
              </a:rPr>
              <a:t>Sequential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decision-making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under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uncertainty</a:t>
            </a:r>
            <a:endParaRPr lang="es-ES" sz="1200" dirty="0">
              <a:latin typeface="Didact Gothic" pitchFamily="2" charset="0"/>
              <a:cs typeface="Poppins" pitchFamily="2" charset="77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sz="1200" dirty="0" err="1">
                <a:latin typeface="Didact Gothic" pitchFamily="2" charset="0"/>
                <a:cs typeface="Poppins" pitchFamily="2" charset="77"/>
              </a:rPr>
              <a:t>Multi-actor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negotiation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(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clients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,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competitors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,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financiers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sz="1200" dirty="0" err="1">
                <a:latin typeface="Didact Gothic" pitchFamily="2" charset="0"/>
                <a:cs typeface="Poppins" pitchFamily="2" charset="77"/>
              </a:rPr>
              <a:t>Financial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consequences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of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strategic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choices</a:t>
            </a:r>
            <a:endParaRPr lang="es-ES" sz="1200" dirty="0">
              <a:latin typeface="Didact Gothic" pitchFamily="2" charset="0"/>
              <a:cs typeface="Poppins" pitchFamily="2" charset="77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4EA2F19-7256-3A43-475E-202D801AAA47}"/>
              </a:ext>
            </a:extLst>
          </p:cNvPr>
          <p:cNvSpPr txBox="1"/>
          <p:nvPr/>
        </p:nvSpPr>
        <p:spPr>
          <a:xfrm>
            <a:off x="802982" y="3154910"/>
            <a:ext cx="61433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200" b="1" dirty="0" err="1">
                <a:latin typeface="Didact Gothic" pitchFamily="2" charset="0"/>
                <a:cs typeface="Poppins" pitchFamily="2" charset="77"/>
              </a:rPr>
              <a:t>Motivation</a:t>
            </a:r>
            <a:endParaRPr lang="es-ES" sz="1200" b="1" dirty="0">
              <a:latin typeface="Didact Gothic" pitchFamily="2" charset="0"/>
              <a:cs typeface="Poppins" pitchFamily="2" charset="77"/>
            </a:endParaRPr>
          </a:p>
          <a:p>
            <a:pPr>
              <a:buNone/>
            </a:pPr>
            <a:endParaRPr lang="es-ES" sz="1200" dirty="0">
              <a:latin typeface="Didact Gothic" pitchFamily="2" charset="0"/>
              <a:cs typeface="Poppins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 err="1">
                <a:latin typeface="Didact Gothic" pitchFamily="2" charset="0"/>
                <a:cs typeface="Poppins" pitchFamily="2" charset="77"/>
              </a:rPr>
              <a:t>Effective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strategy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learning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requires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iteration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,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feedback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, and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consequences</a:t>
            </a:r>
            <a:endParaRPr lang="es-ES" sz="1200" dirty="0">
              <a:latin typeface="Didact Gothic" pitchFamily="2" charset="0"/>
              <a:cs typeface="Poppins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 err="1">
                <a:latin typeface="Didact Gothic" pitchFamily="2" charset="0"/>
                <a:cs typeface="Poppins" pitchFamily="2" charset="77"/>
              </a:rPr>
              <a:t>Existing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teaching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tools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lack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interactivity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,</a:t>
            </a:r>
            <a:r>
              <a:rPr lang="es-ES" sz="1200" b="1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adaptability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, and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reasoning</a:t>
            </a:r>
            <a:r>
              <a:rPr lang="es-ES" sz="1200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sz="1200" dirty="0" err="1">
                <a:latin typeface="Didact Gothic" pitchFamily="2" charset="0"/>
                <a:cs typeface="Poppins" pitchFamily="2" charset="77"/>
              </a:rPr>
              <a:t>traceability</a:t>
            </a:r>
            <a:endParaRPr lang="es-ES" sz="1200" dirty="0">
              <a:latin typeface="Didact Gothic" pitchFamily="2" charset="0"/>
              <a:cs typeface="Poppins" pitchFamily="2" charset="77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A1C8F6-8F15-E393-9168-9F1FE4DFD291}"/>
              </a:ext>
            </a:extLst>
          </p:cNvPr>
          <p:cNvSpPr/>
          <p:nvPr/>
        </p:nvSpPr>
        <p:spPr>
          <a:xfrm>
            <a:off x="1913325" y="4411899"/>
            <a:ext cx="5033042" cy="3842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latin typeface="Didact Gothic" pitchFamily="2" charset="0"/>
                <a:cs typeface="Poppins" pitchFamily="2" charset="77"/>
              </a:rPr>
              <a:t>students</a:t>
            </a:r>
            <a:r>
              <a:rPr lang="es-ES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dirty="0" err="1">
                <a:latin typeface="Didact Gothic" pitchFamily="2" charset="0"/>
                <a:cs typeface="Poppins" pitchFamily="2" charset="77"/>
              </a:rPr>
              <a:t>learn</a:t>
            </a:r>
            <a:r>
              <a:rPr lang="es-ES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i="1" dirty="0" err="1">
                <a:latin typeface="Didact Gothic" pitchFamily="2" charset="0"/>
                <a:cs typeface="Poppins" pitchFamily="2" charset="77"/>
              </a:rPr>
              <a:t>what</a:t>
            </a:r>
            <a:r>
              <a:rPr lang="es-ES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dirty="0" err="1">
                <a:latin typeface="Didact Gothic" pitchFamily="2" charset="0"/>
                <a:cs typeface="Poppins" pitchFamily="2" charset="77"/>
              </a:rPr>
              <a:t>to</a:t>
            </a:r>
            <a:r>
              <a:rPr lang="es-ES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dirty="0" err="1">
                <a:latin typeface="Didact Gothic" pitchFamily="2" charset="0"/>
                <a:cs typeface="Poppins" pitchFamily="2" charset="77"/>
              </a:rPr>
              <a:t>think</a:t>
            </a:r>
            <a:r>
              <a:rPr lang="es-ES" dirty="0">
                <a:latin typeface="Didact Gothic" pitchFamily="2" charset="0"/>
                <a:cs typeface="Poppins" pitchFamily="2" charset="77"/>
              </a:rPr>
              <a:t>, </a:t>
            </a:r>
            <a:r>
              <a:rPr lang="es-ES" dirty="0" err="1">
                <a:latin typeface="Didact Gothic" pitchFamily="2" charset="0"/>
                <a:cs typeface="Poppins" pitchFamily="2" charset="77"/>
              </a:rPr>
              <a:t>but</a:t>
            </a:r>
            <a:r>
              <a:rPr lang="es-ES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dirty="0" err="1">
                <a:latin typeface="Didact Gothic" pitchFamily="2" charset="0"/>
                <a:cs typeface="Poppins" pitchFamily="2" charset="77"/>
              </a:rPr>
              <a:t>not</a:t>
            </a:r>
            <a:r>
              <a:rPr lang="es-ES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i="1" dirty="0" err="1">
                <a:latin typeface="Didact Gothic" pitchFamily="2" charset="0"/>
                <a:cs typeface="Poppins" pitchFamily="2" charset="77"/>
              </a:rPr>
              <a:t>how</a:t>
            </a:r>
            <a:r>
              <a:rPr lang="es-ES" dirty="0">
                <a:latin typeface="Didact Gothic" pitchFamily="2" charset="0"/>
                <a:cs typeface="Poppins" pitchFamily="2" charset="77"/>
              </a:rPr>
              <a:t> </a:t>
            </a:r>
            <a:r>
              <a:rPr lang="es-ES" dirty="0" err="1">
                <a:latin typeface="Didact Gothic" pitchFamily="2" charset="0"/>
                <a:cs typeface="Poppins" pitchFamily="2" charset="77"/>
              </a:rPr>
              <a:t>to</a:t>
            </a:r>
            <a:r>
              <a:rPr lang="es-ES" dirty="0">
                <a:latin typeface="Didact Gothic" pitchFamily="2" charset="0"/>
                <a:cs typeface="Poppins" pitchFamily="2" charset="77"/>
              </a:rPr>
              <a:t> decide </a:t>
            </a:r>
            <a:r>
              <a:rPr lang="es-ES" dirty="0" err="1">
                <a:latin typeface="Didact Gothic" pitchFamily="2" charset="0"/>
                <a:cs typeface="Poppins" pitchFamily="2" charset="77"/>
              </a:rPr>
              <a:t>over</a:t>
            </a:r>
            <a:r>
              <a:rPr lang="es-ES" dirty="0">
                <a:latin typeface="Didact Gothic" pitchFamily="2" charset="0"/>
                <a:cs typeface="Poppins" pitchFamily="2" charset="77"/>
              </a:rPr>
              <a:t> time.</a:t>
            </a:r>
            <a:endParaRPr lang="es-ES" dirty="0"/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742117CC-B1BA-B6F4-ED43-9103FCE62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9337" y="1133697"/>
            <a:ext cx="2294663" cy="2182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1904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>
          <a:extLst>
            <a:ext uri="{FF2B5EF4-FFF2-40B4-BE49-F238E27FC236}">
              <a16:creationId xmlns:a16="http://schemas.microsoft.com/office/drawing/2014/main" id="{C54F846C-AC99-8C3A-3433-346A7D8A2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">
            <a:extLst>
              <a:ext uri="{FF2B5EF4-FFF2-40B4-BE49-F238E27FC236}">
                <a16:creationId xmlns:a16="http://schemas.microsoft.com/office/drawing/2014/main" id="{D4C8017E-5D74-C681-3F8B-02E1E3B7E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0" dirty="0" err="1"/>
              <a:t>An</a:t>
            </a:r>
            <a:r>
              <a:rPr lang="es-ES" dirty="0"/>
              <a:t> </a:t>
            </a:r>
            <a:r>
              <a:rPr lang="es-ES" dirty="0" err="1"/>
              <a:t>agentic</a:t>
            </a:r>
            <a:r>
              <a:rPr lang="es-ES" dirty="0"/>
              <a:t> AI–</a:t>
            </a:r>
            <a:r>
              <a:rPr lang="es-ES" dirty="0" err="1"/>
              <a:t>based</a:t>
            </a:r>
            <a:r>
              <a:rPr lang="es-ES" dirty="0"/>
              <a:t> </a:t>
            </a:r>
            <a:r>
              <a:rPr lang="es-ES" b="0" dirty="0" err="1"/>
              <a:t>strategy</a:t>
            </a:r>
            <a:r>
              <a:rPr lang="es-ES" b="0" dirty="0"/>
              <a:t> </a:t>
            </a:r>
            <a:r>
              <a:rPr lang="es-ES" b="0" dirty="0" err="1"/>
              <a:t>simulation</a:t>
            </a:r>
            <a:endParaRPr b="0" dirty="0"/>
          </a:p>
        </p:txBody>
      </p:sp>
      <p:sp>
        <p:nvSpPr>
          <p:cNvPr id="2" name="Google Shape;116;p21">
            <a:extLst>
              <a:ext uri="{FF2B5EF4-FFF2-40B4-BE49-F238E27FC236}">
                <a16:creationId xmlns:a16="http://schemas.microsoft.com/office/drawing/2014/main" id="{F572380F-9C78-24E2-633D-C833EBAA08E4}"/>
              </a:ext>
            </a:extLst>
          </p:cNvPr>
          <p:cNvSpPr txBox="1">
            <a:spLocks/>
          </p:cNvSpPr>
          <p:nvPr/>
        </p:nvSpPr>
        <p:spPr>
          <a:xfrm>
            <a:off x="166750" y="-133258"/>
            <a:ext cx="7347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b="1" dirty="0">
                <a:latin typeface="Poppins" pitchFamily="2" charset="77"/>
                <a:cs typeface="Poppins" pitchFamily="2" charset="77"/>
              </a:rPr>
              <a:t>02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0019DE3-2361-69D0-EACA-A947F2362339}"/>
              </a:ext>
            </a:extLst>
          </p:cNvPr>
          <p:cNvSpPr txBox="1"/>
          <p:nvPr/>
        </p:nvSpPr>
        <p:spPr>
          <a:xfrm>
            <a:off x="764525" y="30160"/>
            <a:ext cx="25041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s-ES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Proposed</a:t>
            </a:r>
            <a:r>
              <a:rPr lang="es-ES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s-ES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Solution</a:t>
            </a:r>
            <a:endParaRPr lang="es-ES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A070D75-95A0-D267-F08C-2EAFA4752810}"/>
              </a:ext>
            </a:extLst>
          </p:cNvPr>
          <p:cNvSpPr txBox="1"/>
          <p:nvPr/>
        </p:nvSpPr>
        <p:spPr>
          <a:xfrm>
            <a:off x="6093475" y="0"/>
            <a:ext cx="30505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s-ES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01</a:t>
            </a:r>
            <a:r>
              <a:rPr lang="es-ES" b="1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02</a:t>
            </a:r>
            <a:r>
              <a:rPr lang="es-ES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03 04 05 06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03F2B9B-A33D-10CC-246D-D9F244ADAEE6}"/>
              </a:ext>
            </a:extLst>
          </p:cNvPr>
          <p:cNvSpPr/>
          <p:nvPr/>
        </p:nvSpPr>
        <p:spPr>
          <a:xfrm>
            <a:off x="547002" y="4025590"/>
            <a:ext cx="4938000" cy="5049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latin typeface="Didact Gothic" pitchFamily="2" charset="0"/>
              </a:rPr>
              <a:t>Move</a:t>
            </a:r>
            <a:r>
              <a:rPr lang="es-ES" dirty="0">
                <a:latin typeface="Didact Gothic" pitchFamily="2" charset="0"/>
              </a:rPr>
              <a:t> </a:t>
            </a:r>
            <a:r>
              <a:rPr lang="es-ES" dirty="0" err="1">
                <a:latin typeface="Didact Gothic" pitchFamily="2" charset="0"/>
              </a:rPr>
              <a:t>from</a:t>
            </a:r>
            <a:r>
              <a:rPr lang="es-ES" dirty="0">
                <a:latin typeface="Didact Gothic" pitchFamily="2" charset="0"/>
              </a:rPr>
              <a:t> case </a:t>
            </a:r>
            <a:r>
              <a:rPr lang="es-ES" dirty="0" err="1">
                <a:latin typeface="Didact Gothic" pitchFamily="2" charset="0"/>
              </a:rPr>
              <a:t>analysis</a:t>
            </a:r>
            <a:r>
              <a:rPr lang="es-ES" dirty="0">
                <a:latin typeface="Didact Gothic" pitchFamily="2" charset="0"/>
              </a:rPr>
              <a:t> </a:t>
            </a:r>
            <a:r>
              <a:rPr lang="es-ES" dirty="0" err="1">
                <a:latin typeface="Didact Gothic" pitchFamily="2" charset="0"/>
              </a:rPr>
              <a:t>to</a:t>
            </a:r>
            <a:r>
              <a:rPr lang="es-ES" dirty="0">
                <a:latin typeface="Didact Gothic" pitchFamily="2" charset="0"/>
              </a:rPr>
              <a:t> </a:t>
            </a:r>
            <a:r>
              <a:rPr lang="es-ES" dirty="0" err="1">
                <a:latin typeface="Didact Gothic" pitchFamily="2" charset="0"/>
              </a:rPr>
              <a:t>strategy</a:t>
            </a:r>
            <a:r>
              <a:rPr lang="es-ES" dirty="0">
                <a:latin typeface="Didact Gothic" pitchFamily="2" charset="0"/>
              </a:rPr>
              <a:t> </a:t>
            </a:r>
            <a:r>
              <a:rPr lang="es-ES" dirty="0" err="1">
                <a:latin typeface="Didact Gothic" pitchFamily="2" charset="0"/>
              </a:rPr>
              <a:t>practice</a:t>
            </a:r>
            <a:r>
              <a:rPr lang="es-ES" dirty="0">
                <a:latin typeface="Didact Gothic" pitchFamily="2" charset="0"/>
              </a:rPr>
              <a:t> </a:t>
            </a:r>
            <a:r>
              <a:rPr lang="es-ES" dirty="0" err="1">
                <a:latin typeface="Didact Gothic" pitchFamily="2" charset="0"/>
              </a:rPr>
              <a:t>through</a:t>
            </a:r>
            <a:r>
              <a:rPr lang="es-ES" dirty="0">
                <a:latin typeface="Didact Gothic" pitchFamily="2" charset="0"/>
              </a:rPr>
              <a:t> </a:t>
            </a:r>
            <a:r>
              <a:rPr lang="es-ES" dirty="0" err="1">
                <a:latin typeface="Didact Gothic" pitchFamily="2" charset="0"/>
              </a:rPr>
              <a:t>interaction</a:t>
            </a:r>
            <a:r>
              <a:rPr lang="es-ES" dirty="0">
                <a:latin typeface="Didact Gothic" pitchFamily="2" charset="0"/>
              </a:rPr>
              <a:t> and </a:t>
            </a:r>
            <a:r>
              <a:rPr lang="es-ES" dirty="0" err="1">
                <a:latin typeface="Didact Gothic" pitchFamily="2" charset="0"/>
              </a:rPr>
              <a:t>consequences</a:t>
            </a:r>
            <a:endParaRPr lang="es-ES" dirty="0">
              <a:latin typeface="Didact Gothic" pitchFamily="2" charset="0"/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CF82B7A9-AEDF-14F8-5FA1-E6F55AA05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02" y="1232434"/>
            <a:ext cx="4938000" cy="2678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6020BBE2-C9F0-EC01-E078-64D966AFAC1F}"/>
              </a:ext>
            </a:extLst>
          </p:cNvPr>
          <p:cNvSpPr txBox="1"/>
          <p:nvPr/>
        </p:nvSpPr>
        <p:spPr>
          <a:xfrm>
            <a:off x="5733535" y="1462736"/>
            <a:ext cx="314685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latin typeface="Didact Gothic" pitchFamily="2" charset="0"/>
              </a:rPr>
              <a:t>A </a:t>
            </a:r>
            <a:r>
              <a:rPr lang="es-ES" sz="1200" dirty="0" err="1">
                <a:latin typeface="Didact Gothic" pitchFamily="2" charset="0"/>
              </a:rPr>
              <a:t>simulated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business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environment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where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students</a:t>
            </a:r>
            <a:r>
              <a:rPr lang="es-ES" sz="1200" b="1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make</a:t>
            </a:r>
            <a:r>
              <a:rPr lang="es-ES" sz="1200" b="1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strategic</a:t>
            </a:r>
            <a:r>
              <a:rPr lang="es-ES" sz="1200" b="1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decisions</a:t>
            </a:r>
            <a:endParaRPr lang="es-ES" sz="1200" b="1" dirty="0">
              <a:latin typeface="Didact Gothic" pitchFamily="2" charset="0"/>
            </a:endParaRPr>
          </a:p>
          <a:p>
            <a:endParaRPr lang="es-ES" sz="1200" dirty="0">
              <a:latin typeface="Didact Gothic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latin typeface="Didact Gothic" pitchFamily="2" charset="0"/>
              </a:rPr>
              <a:t>AI </a:t>
            </a:r>
            <a:r>
              <a:rPr lang="es-ES" sz="1200" dirty="0" err="1">
                <a:latin typeface="Didact Gothic" pitchFamily="2" charset="0"/>
              </a:rPr>
              <a:t>agents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act</a:t>
            </a:r>
            <a:r>
              <a:rPr lang="es-ES" sz="1200" dirty="0">
                <a:latin typeface="Didact Gothic" pitchFamily="2" charset="0"/>
              </a:rPr>
              <a:t> as </a:t>
            </a:r>
            <a:r>
              <a:rPr lang="es-ES" sz="1200" b="1" dirty="0" err="1">
                <a:latin typeface="Didact Gothic" pitchFamily="2" charset="0"/>
              </a:rPr>
              <a:t>clients</a:t>
            </a:r>
            <a:r>
              <a:rPr lang="es-ES" sz="1200" b="1" dirty="0">
                <a:latin typeface="Didact Gothic" pitchFamily="2" charset="0"/>
              </a:rPr>
              <a:t>, </a:t>
            </a:r>
            <a:r>
              <a:rPr lang="es-ES" sz="1200" b="1" dirty="0" err="1">
                <a:latin typeface="Didact Gothic" pitchFamily="2" charset="0"/>
              </a:rPr>
              <a:t>competitors</a:t>
            </a:r>
            <a:r>
              <a:rPr lang="es-ES" sz="1200" b="1" dirty="0">
                <a:latin typeface="Didact Gothic" pitchFamily="2" charset="0"/>
              </a:rPr>
              <a:t>, </a:t>
            </a:r>
            <a:r>
              <a:rPr lang="es-ES" sz="1200" b="1" dirty="0" err="1">
                <a:latin typeface="Didact Gothic" pitchFamily="2" charset="0"/>
              </a:rPr>
              <a:t>financial</a:t>
            </a:r>
            <a:r>
              <a:rPr lang="es-ES" sz="1200" b="1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institutions</a:t>
            </a:r>
            <a:r>
              <a:rPr lang="es-ES" sz="1200" b="1" dirty="0">
                <a:latin typeface="Didact Gothic" pitchFamily="2" charset="0"/>
              </a:rPr>
              <a:t>, and </a:t>
            </a:r>
            <a:r>
              <a:rPr lang="es-ES" sz="1200" b="1" dirty="0" err="1">
                <a:latin typeface="Didact Gothic" pitchFamily="2" charset="0"/>
              </a:rPr>
              <a:t>market</a:t>
            </a:r>
            <a:r>
              <a:rPr lang="es-ES" sz="1200" b="1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forces</a:t>
            </a:r>
            <a:endParaRPr lang="es-ES" sz="1200" b="1" dirty="0">
              <a:latin typeface="Didact Gothic" pitchFamily="2" charset="0"/>
            </a:endParaRPr>
          </a:p>
          <a:p>
            <a:endParaRPr lang="es-ES" sz="1200" dirty="0">
              <a:latin typeface="Didact Gothic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 err="1">
                <a:latin typeface="Didact Gothic" pitchFamily="2" charset="0"/>
              </a:rPr>
              <a:t>Agents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reason</a:t>
            </a:r>
            <a:r>
              <a:rPr lang="es-ES" sz="1200" b="1" dirty="0">
                <a:latin typeface="Didact Gothic" pitchFamily="2" charset="0"/>
              </a:rPr>
              <a:t>, </a:t>
            </a:r>
            <a:r>
              <a:rPr lang="es-ES" sz="1200" b="1" dirty="0" err="1">
                <a:latin typeface="Didact Gothic" pitchFamily="2" charset="0"/>
              </a:rPr>
              <a:t>act</a:t>
            </a:r>
            <a:r>
              <a:rPr lang="es-ES" sz="1200" b="1" dirty="0">
                <a:latin typeface="Didact Gothic" pitchFamily="2" charset="0"/>
              </a:rPr>
              <a:t>, and </a:t>
            </a:r>
            <a:r>
              <a:rPr lang="es-ES" sz="1200" b="1" dirty="0" err="1">
                <a:latin typeface="Didact Gothic" pitchFamily="2" charset="0"/>
              </a:rPr>
              <a:t>interact</a:t>
            </a:r>
            <a:r>
              <a:rPr lang="es-ES" sz="1200" dirty="0">
                <a:latin typeface="Didact Gothic" pitchFamily="2" charset="0"/>
              </a:rPr>
              <a:t> in response </a:t>
            </a:r>
            <a:r>
              <a:rPr lang="es-ES" sz="1200" dirty="0" err="1">
                <a:latin typeface="Didact Gothic" pitchFamily="2" charset="0"/>
              </a:rPr>
              <a:t>to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student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decisions</a:t>
            </a:r>
            <a:endParaRPr lang="es-ES" sz="1200" dirty="0">
              <a:latin typeface="Didact Gothic" pitchFamily="2" charset="0"/>
            </a:endParaRPr>
          </a:p>
          <a:p>
            <a:endParaRPr lang="es-ES" sz="1200" dirty="0">
              <a:latin typeface="Didact Gothic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 err="1">
                <a:latin typeface="Didact Gothic" pitchFamily="2" charset="0"/>
              </a:rPr>
              <a:t>The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system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provides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structured</a:t>
            </a:r>
            <a:r>
              <a:rPr lang="es-ES" sz="1200" b="1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feedback</a:t>
            </a:r>
            <a:r>
              <a:rPr lang="es-ES" sz="1200" b="1" dirty="0">
                <a:latin typeface="Didact Gothic" pitchFamily="2" charset="0"/>
              </a:rPr>
              <a:t> and </a:t>
            </a:r>
            <a:r>
              <a:rPr lang="es-ES" sz="1200" b="1" dirty="0" err="1">
                <a:latin typeface="Didact Gothic" pitchFamily="2" charset="0"/>
              </a:rPr>
              <a:t>reasoning</a:t>
            </a:r>
            <a:r>
              <a:rPr lang="es-ES" sz="1200" b="1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traceability</a:t>
            </a:r>
            <a:endParaRPr lang="es-ES" sz="1200" dirty="0">
              <a:latin typeface="Didact Gothic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885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>
          <a:extLst>
            <a:ext uri="{FF2B5EF4-FFF2-40B4-BE49-F238E27FC236}">
              <a16:creationId xmlns:a16="http://schemas.microsoft.com/office/drawing/2014/main" id="{390EC4FA-BF3F-09AB-3FE9-3C4B60EB6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">
            <a:extLst>
              <a:ext uri="{FF2B5EF4-FFF2-40B4-BE49-F238E27FC236}">
                <a16:creationId xmlns:a16="http://schemas.microsoft.com/office/drawing/2014/main" id="{366E772C-79FB-3A07-5FB3-4E002A74E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0" noProof="0" dirty="0"/>
              <a:t>An</a:t>
            </a:r>
            <a:r>
              <a:rPr lang="en-GB" noProof="0" dirty="0"/>
              <a:t> agentic AI–based </a:t>
            </a:r>
            <a:r>
              <a:rPr lang="en-GB" b="0" noProof="0" dirty="0"/>
              <a:t>strategy simulation</a:t>
            </a:r>
          </a:p>
        </p:txBody>
      </p:sp>
      <p:sp>
        <p:nvSpPr>
          <p:cNvPr id="2" name="Google Shape;116;p21">
            <a:extLst>
              <a:ext uri="{FF2B5EF4-FFF2-40B4-BE49-F238E27FC236}">
                <a16:creationId xmlns:a16="http://schemas.microsoft.com/office/drawing/2014/main" id="{4280D249-ECA6-728C-6F82-FE79025755CB}"/>
              </a:ext>
            </a:extLst>
          </p:cNvPr>
          <p:cNvSpPr txBox="1">
            <a:spLocks/>
          </p:cNvSpPr>
          <p:nvPr/>
        </p:nvSpPr>
        <p:spPr>
          <a:xfrm>
            <a:off x="166750" y="-133258"/>
            <a:ext cx="7347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b="1" noProof="0" dirty="0">
                <a:latin typeface="Poppins" pitchFamily="2" charset="77"/>
                <a:cs typeface="Poppins" pitchFamily="2" charset="77"/>
              </a:rPr>
              <a:t>03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B6967CA-24C1-A87A-F308-7F2D64B2DD2E}"/>
              </a:ext>
            </a:extLst>
          </p:cNvPr>
          <p:cNvSpPr txBox="1"/>
          <p:nvPr/>
        </p:nvSpPr>
        <p:spPr>
          <a:xfrm>
            <a:off x="764525" y="30160"/>
            <a:ext cx="25041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GB" b="1" noProof="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Why Agentic AI?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0844C65-28E8-6C78-7F52-470BF0F5073E}"/>
              </a:ext>
            </a:extLst>
          </p:cNvPr>
          <p:cNvSpPr txBox="1"/>
          <p:nvPr/>
        </p:nvSpPr>
        <p:spPr>
          <a:xfrm>
            <a:off x="6093475" y="0"/>
            <a:ext cx="30505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n-GB" spc="600" noProof="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01</a:t>
            </a:r>
            <a:r>
              <a:rPr lang="en-GB" b="1" spc="600" noProof="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GB" spc="600" noProof="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02 </a:t>
            </a:r>
            <a:r>
              <a:rPr lang="en-GB" b="1" spc="600" noProof="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03</a:t>
            </a:r>
            <a:r>
              <a:rPr lang="en-GB" spc="600" noProof="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04 05 06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717C92A-E871-942B-1489-B85B6C69E33D}"/>
              </a:ext>
            </a:extLst>
          </p:cNvPr>
          <p:cNvSpPr/>
          <p:nvPr/>
        </p:nvSpPr>
        <p:spPr>
          <a:xfrm>
            <a:off x="1509928" y="4442113"/>
            <a:ext cx="6124143" cy="32377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noProof="0" dirty="0">
                <a:latin typeface="Didact Gothic" pitchFamily="2" charset="0"/>
              </a:rPr>
              <a:t>Not a conversational assistant, but an </a:t>
            </a:r>
            <a:r>
              <a:rPr lang="en-GB" sz="1400" b="1" noProof="0" dirty="0">
                <a:latin typeface="Didact Gothic" pitchFamily="2" charset="0"/>
              </a:rPr>
              <a:t>interactive, evaluative learning system</a:t>
            </a:r>
            <a:endParaRPr lang="en-GB" sz="1400" noProof="0" dirty="0">
              <a:latin typeface="Didact Gothic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155E39E-6A37-0E7E-5E24-AB4C8A3211F4}"/>
              </a:ext>
            </a:extLst>
          </p:cNvPr>
          <p:cNvSpPr txBox="1"/>
          <p:nvPr/>
        </p:nvSpPr>
        <p:spPr>
          <a:xfrm>
            <a:off x="764525" y="1435402"/>
            <a:ext cx="2614779" cy="1569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200" b="1" noProof="0" dirty="0">
                <a:latin typeface="Didact Gothic" pitchFamily="2" charset="0"/>
              </a:rPr>
              <a:t>Limitations of single-assistant systems</a:t>
            </a:r>
            <a:endParaRPr lang="en-GB" sz="1200" noProof="0" dirty="0">
              <a:latin typeface="Didact Gothic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Didact Gothic" pitchFamily="2" charset="0"/>
              </a:rPr>
              <a:t>Reactive: respond to prompts but do not manage evolving situations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Didact Gothic" pitchFamily="2" charset="0"/>
              </a:rPr>
              <a:t>No persistent roles, memory, or consequences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Didact Gothic" pitchFamily="2" charset="0"/>
              </a:rPr>
              <a:t>Limited support for negotiation and strategic interaction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F7329A8-8EDF-CC09-0498-75C80E225BEC}"/>
              </a:ext>
            </a:extLst>
          </p:cNvPr>
          <p:cNvSpPr txBox="1"/>
          <p:nvPr/>
        </p:nvSpPr>
        <p:spPr>
          <a:xfrm>
            <a:off x="6062489" y="1469348"/>
            <a:ext cx="2728497" cy="15696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200" b="1" noProof="0" dirty="0">
                <a:latin typeface="Didact Gothic" pitchFamily="2" charset="0"/>
              </a:rPr>
              <a:t>Advantages of an agentic approach</a:t>
            </a:r>
            <a:endParaRPr lang="en-GB" sz="1200" noProof="0" dirty="0">
              <a:latin typeface="Didact Gothic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noProof="0" dirty="0">
                <a:latin typeface="Didact Gothic" pitchFamily="2" charset="0"/>
              </a:rPr>
              <a:t>Reason:</a:t>
            </a:r>
            <a:r>
              <a:rPr lang="en-GB" sz="1200" noProof="0" dirty="0">
                <a:latin typeface="Didact Gothic" pitchFamily="2" charset="0"/>
              </a:rPr>
              <a:t> agents plan and reflect on decisions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noProof="0" dirty="0">
                <a:latin typeface="Didact Gothic" pitchFamily="2" charset="0"/>
              </a:rPr>
              <a:t>Act:</a:t>
            </a:r>
            <a:r>
              <a:rPr lang="en-GB" sz="1200" noProof="0" dirty="0">
                <a:latin typeface="Didact Gothic" pitchFamily="2" charset="0"/>
              </a:rPr>
              <a:t> agents use tools (financial models, simulations)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noProof="0" dirty="0">
                <a:latin typeface="Didact Gothic" pitchFamily="2" charset="0"/>
              </a:rPr>
              <a:t>Interact:</a:t>
            </a:r>
            <a:r>
              <a:rPr lang="en-GB" sz="1200" noProof="0" dirty="0">
                <a:latin typeface="Didact Gothic" pitchFamily="2" charset="0"/>
              </a:rPr>
              <a:t> multiple agents negotiate and respond strategically</a:t>
            </a:r>
          </a:p>
          <a:p>
            <a:endParaRPr lang="en-GB" sz="1200" noProof="0" dirty="0">
              <a:latin typeface="Didact Gothic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29CF4F6-73DE-67D1-C1F6-6F7D42BE6042}"/>
              </a:ext>
            </a:extLst>
          </p:cNvPr>
          <p:cNvSpPr txBox="1"/>
          <p:nvPr/>
        </p:nvSpPr>
        <p:spPr>
          <a:xfrm>
            <a:off x="3522428" y="3215756"/>
            <a:ext cx="2385391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200" b="1" noProof="0" dirty="0">
                <a:latin typeface="Didact Gothic" pitchFamily="2" charset="0"/>
              </a:rPr>
              <a:t>Educational value</a:t>
            </a:r>
            <a:endParaRPr lang="en-GB" sz="1200" noProof="0" dirty="0">
              <a:latin typeface="Didact Gothic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Didact Gothic" pitchFamily="2" charset="0"/>
              </a:rPr>
              <a:t>Mirrors real-world strategic environments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noProof="0" dirty="0">
                <a:latin typeface="Didact Gothic" pitchFamily="2" charset="0"/>
              </a:rPr>
              <a:t>Enables adaptive scenarios and explainable evaluation</a:t>
            </a:r>
          </a:p>
        </p:txBody>
      </p:sp>
      <p:sp>
        <p:nvSpPr>
          <p:cNvPr id="17" name="Google Shape;222;p25">
            <a:extLst>
              <a:ext uri="{FF2B5EF4-FFF2-40B4-BE49-F238E27FC236}">
                <a16:creationId xmlns:a16="http://schemas.microsoft.com/office/drawing/2014/main" id="{2E13E171-4FEF-3A58-BC38-23C6A996DCE9}"/>
              </a:ext>
            </a:extLst>
          </p:cNvPr>
          <p:cNvSpPr/>
          <p:nvPr/>
        </p:nvSpPr>
        <p:spPr>
          <a:xfrm>
            <a:off x="4715123" y="1322894"/>
            <a:ext cx="830972" cy="1230666"/>
          </a:xfrm>
          <a:custGeom>
            <a:avLst/>
            <a:gdLst/>
            <a:ahLst/>
            <a:cxnLst/>
            <a:rect l="l" t="t" r="r" b="b"/>
            <a:pathLst>
              <a:path w="2762" h="4068" extrusionOk="0">
                <a:moveTo>
                  <a:pt x="2732" y="2597"/>
                </a:moveTo>
                <a:lnTo>
                  <a:pt x="2732" y="2597"/>
                </a:lnTo>
                <a:cubicBezTo>
                  <a:pt x="2628" y="1144"/>
                  <a:pt x="1425" y="30"/>
                  <a:pt x="0" y="0"/>
                </a:cubicBezTo>
                <a:cubicBezTo>
                  <a:pt x="387" y="728"/>
                  <a:pt x="387" y="728"/>
                  <a:pt x="387" y="728"/>
                </a:cubicBezTo>
                <a:cubicBezTo>
                  <a:pt x="401" y="772"/>
                  <a:pt x="401" y="832"/>
                  <a:pt x="371" y="876"/>
                </a:cubicBezTo>
                <a:cubicBezTo>
                  <a:pt x="30" y="1396"/>
                  <a:pt x="30" y="1396"/>
                  <a:pt x="30" y="1396"/>
                </a:cubicBezTo>
                <a:cubicBezTo>
                  <a:pt x="758" y="1455"/>
                  <a:pt x="1337" y="2049"/>
                  <a:pt x="1337" y="2790"/>
                </a:cubicBezTo>
                <a:cubicBezTo>
                  <a:pt x="1337" y="3027"/>
                  <a:pt x="1277" y="3250"/>
                  <a:pt x="1173" y="3458"/>
                </a:cubicBezTo>
                <a:cubicBezTo>
                  <a:pt x="1499" y="4052"/>
                  <a:pt x="1499" y="4052"/>
                  <a:pt x="1499" y="4052"/>
                </a:cubicBezTo>
                <a:cubicBezTo>
                  <a:pt x="1515" y="4052"/>
                  <a:pt x="1515" y="4067"/>
                  <a:pt x="1529" y="4067"/>
                </a:cubicBezTo>
                <a:cubicBezTo>
                  <a:pt x="2420" y="4067"/>
                  <a:pt x="2420" y="4067"/>
                  <a:pt x="2420" y="4067"/>
                </a:cubicBezTo>
                <a:lnTo>
                  <a:pt x="2420" y="4067"/>
                </a:lnTo>
                <a:cubicBezTo>
                  <a:pt x="2643" y="3606"/>
                  <a:pt x="2761" y="3102"/>
                  <a:pt x="2732" y="2597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450" noProof="0" dirty="0">
              <a:solidFill>
                <a:srgbClr val="7B7C7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" name="Google Shape;223;p25">
            <a:extLst>
              <a:ext uri="{FF2B5EF4-FFF2-40B4-BE49-F238E27FC236}">
                <a16:creationId xmlns:a16="http://schemas.microsoft.com/office/drawing/2014/main" id="{A366D858-DF40-1BA7-8667-F7E61DEF7A0E}"/>
              </a:ext>
            </a:extLst>
          </p:cNvPr>
          <p:cNvSpPr/>
          <p:nvPr/>
        </p:nvSpPr>
        <p:spPr>
          <a:xfrm>
            <a:off x="4000962" y="2400229"/>
            <a:ext cx="1425662" cy="722665"/>
          </a:xfrm>
          <a:custGeom>
            <a:avLst/>
            <a:gdLst/>
            <a:ahLst/>
            <a:cxnLst/>
            <a:rect l="l" t="t" r="r" b="b"/>
            <a:pathLst>
              <a:path w="4736" h="2391" extrusionOk="0">
                <a:moveTo>
                  <a:pt x="3903" y="623"/>
                </a:moveTo>
                <a:lnTo>
                  <a:pt x="3903" y="623"/>
                </a:lnTo>
                <a:cubicBezTo>
                  <a:pt x="3844" y="623"/>
                  <a:pt x="3799" y="593"/>
                  <a:pt x="3770" y="549"/>
                </a:cubicBezTo>
                <a:cubicBezTo>
                  <a:pt x="3473" y="15"/>
                  <a:pt x="3473" y="15"/>
                  <a:pt x="3473" y="15"/>
                </a:cubicBezTo>
                <a:cubicBezTo>
                  <a:pt x="3220" y="386"/>
                  <a:pt x="2790" y="623"/>
                  <a:pt x="2315" y="623"/>
                </a:cubicBezTo>
                <a:cubicBezTo>
                  <a:pt x="1826" y="623"/>
                  <a:pt x="1396" y="371"/>
                  <a:pt x="1158" y="0"/>
                </a:cubicBezTo>
                <a:cubicBezTo>
                  <a:pt x="1054" y="0"/>
                  <a:pt x="1054" y="0"/>
                  <a:pt x="1054" y="0"/>
                </a:cubicBezTo>
                <a:cubicBezTo>
                  <a:pt x="475" y="0"/>
                  <a:pt x="475" y="0"/>
                  <a:pt x="475" y="0"/>
                </a:cubicBezTo>
                <a:cubicBezTo>
                  <a:pt x="461" y="0"/>
                  <a:pt x="461" y="0"/>
                  <a:pt x="461" y="15"/>
                </a:cubicBezTo>
                <a:cubicBezTo>
                  <a:pt x="30" y="771"/>
                  <a:pt x="30" y="771"/>
                  <a:pt x="30" y="771"/>
                </a:cubicBezTo>
                <a:cubicBezTo>
                  <a:pt x="15" y="801"/>
                  <a:pt x="15" y="801"/>
                  <a:pt x="15" y="801"/>
                </a:cubicBezTo>
                <a:cubicBezTo>
                  <a:pt x="15" y="787"/>
                  <a:pt x="15" y="787"/>
                  <a:pt x="15" y="787"/>
                </a:cubicBezTo>
                <a:cubicBezTo>
                  <a:pt x="0" y="787"/>
                  <a:pt x="0" y="787"/>
                  <a:pt x="0" y="787"/>
                </a:cubicBezTo>
                <a:lnTo>
                  <a:pt x="0" y="787"/>
                </a:lnTo>
                <a:cubicBezTo>
                  <a:pt x="297" y="1217"/>
                  <a:pt x="639" y="1514"/>
                  <a:pt x="1099" y="1737"/>
                </a:cubicBezTo>
                <a:cubicBezTo>
                  <a:pt x="2419" y="2390"/>
                  <a:pt x="4007" y="1885"/>
                  <a:pt x="4735" y="623"/>
                </a:cubicBezTo>
                <a:lnTo>
                  <a:pt x="3903" y="623"/>
                </a:ln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450" noProof="0" dirty="0">
              <a:solidFill>
                <a:srgbClr val="7B7C7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" name="Google Shape;224;p25">
            <a:extLst>
              <a:ext uri="{FF2B5EF4-FFF2-40B4-BE49-F238E27FC236}">
                <a16:creationId xmlns:a16="http://schemas.microsoft.com/office/drawing/2014/main" id="{233ABABD-2966-3C36-F220-384E93D66927}"/>
              </a:ext>
            </a:extLst>
          </p:cNvPr>
          <p:cNvSpPr/>
          <p:nvPr/>
        </p:nvSpPr>
        <p:spPr>
          <a:xfrm>
            <a:off x="3746095" y="1322894"/>
            <a:ext cx="1055311" cy="1284003"/>
          </a:xfrm>
          <a:custGeom>
            <a:avLst/>
            <a:gdLst/>
            <a:ahLst/>
            <a:cxnLst/>
            <a:rect l="l" t="t" r="r" b="b"/>
            <a:pathLst>
              <a:path w="3504" h="4246" extrusionOk="0">
                <a:moveTo>
                  <a:pt x="1767" y="2790"/>
                </a:moveTo>
                <a:lnTo>
                  <a:pt x="1767" y="2790"/>
                </a:lnTo>
                <a:cubicBezTo>
                  <a:pt x="1767" y="2034"/>
                  <a:pt x="2361" y="1425"/>
                  <a:pt x="3116" y="1396"/>
                </a:cubicBezTo>
                <a:cubicBezTo>
                  <a:pt x="3503" y="802"/>
                  <a:pt x="3503" y="802"/>
                  <a:pt x="3503" y="802"/>
                </a:cubicBezTo>
                <a:lnTo>
                  <a:pt x="3503" y="787"/>
                </a:lnTo>
                <a:cubicBezTo>
                  <a:pt x="3087" y="0"/>
                  <a:pt x="3087" y="0"/>
                  <a:pt x="3087" y="0"/>
                </a:cubicBezTo>
                <a:cubicBezTo>
                  <a:pt x="2968" y="16"/>
                  <a:pt x="2968" y="16"/>
                  <a:pt x="2968" y="16"/>
                </a:cubicBezTo>
                <a:cubicBezTo>
                  <a:pt x="2450" y="45"/>
                  <a:pt x="2019" y="194"/>
                  <a:pt x="1604" y="475"/>
                </a:cubicBezTo>
                <a:cubicBezTo>
                  <a:pt x="357" y="1322"/>
                  <a:pt x="0" y="2983"/>
                  <a:pt x="787" y="4245"/>
                </a:cubicBezTo>
                <a:cubicBezTo>
                  <a:pt x="1203" y="3517"/>
                  <a:pt x="1203" y="3517"/>
                  <a:pt x="1203" y="3517"/>
                </a:cubicBezTo>
                <a:cubicBezTo>
                  <a:pt x="1217" y="3473"/>
                  <a:pt x="1262" y="3443"/>
                  <a:pt x="1321" y="3443"/>
                </a:cubicBezTo>
                <a:cubicBezTo>
                  <a:pt x="1930" y="3443"/>
                  <a:pt x="1930" y="3443"/>
                  <a:pt x="1930" y="3443"/>
                </a:cubicBezTo>
                <a:cubicBezTo>
                  <a:pt x="1826" y="3250"/>
                  <a:pt x="1767" y="3027"/>
                  <a:pt x="1767" y="2790"/>
                </a:cubicBezTo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450" noProof="0" dirty="0">
              <a:solidFill>
                <a:srgbClr val="7B7C7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4" name="Google Shape;220;p25">
            <a:extLst>
              <a:ext uri="{FF2B5EF4-FFF2-40B4-BE49-F238E27FC236}">
                <a16:creationId xmlns:a16="http://schemas.microsoft.com/office/drawing/2014/main" id="{933E11CF-77C6-6464-445F-22F2C76F7501}"/>
              </a:ext>
            </a:extLst>
          </p:cNvPr>
          <p:cNvCxnSpPr>
            <a:cxnSpLocks/>
          </p:cNvCxnSpPr>
          <p:nvPr/>
        </p:nvCxnSpPr>
        <p:spPr>
          <a:xfrm>
            <a:off x="5160579" y="1625868"/>
            <a:ext cx="88525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20;p25">
            <a:extLst>
              <a:ext uri="{FF2B5EF4-FFF2-40B4-BE49-F238E27FC236}">
                <a16:creationId xmlns:a16="http://schemas.microsoft.com/office/drawing/2014/main" id="{9D55F700-FBFF-3030-570C-F500502709FA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379304" y="2220232"/>
            <a:ext cx="621658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20;p25">
            <a:extLst>
              <a:ext uri="{FF2B5EF4-FFF2-40B4-BE49-F238E27FC236}">
                <a16:creationId xmlns:a16="http://schemas.microsoft.com/office/drawing/2014/main" id="{82F2EBB7-FE5B-05F3-4F8C-6E0770E2FFEE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4715123" y="2827283"/>
            <a:ext cx="1" cy="38847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0B81F99-C62E-873C-D715-148105B3C226}"/>
              </a:ext>
            </a:extLst>
          </p:cNvPr>
          <p:cNvSpPr txBox="1"/>
          <p:nvPr/>
        </p:nvSpPr>
        <p:spPr>
          <a:xfrm>
            <a:off x="4297345" y="1958702"/>
            <a:ext cx="830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1" noProof="0" dirty="0">
                <a:latin typeface="Poppins" pitchFamily="2" charset="77"/>
                <a:cs typeface="Poppins" pitchFamily="2" charset="77"/>
              </a:rPr>
              <a:t>Agentic AI</a:t>
            </a:r>
          </a:p>
        </p:txBody>
      </p:sp>
    </p:spTree>
    <p:extLst>
      <p:ext uri="{BB962C8B-B14F-4D97-AF65-F5344CB8AC3E}">
        <p14:creationId xmlns:p14="http://schemas.microsoft.com/office/powerpoint/2010/main" val="2693449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>
          <a:extLst>
            <a:ext uri="{FF2B5EF4-FFF2-40B4-BE49-F238E27FC236}">
              <a16:creationId xmlns:a16="http://schemas.microsoft.com/office/drawing/2014/main" id="{F247FA83-3D8C-3408-393B-16689FC8E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">
            <a:extLst>
              <a:ext uri="{FF2B5EF4-FFF2-40B4-BE49-F238E27FC236}">
                <a16:creationId xmlns:a16="http://schemas.microsoft.com/office/drawing/2014/main" id="{90018C07-4365-E490-0A7D-A20B3B4FF7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dirty="0" err="1"/>
              <a:t>Agent-based</a:t>
            </a:r>
            <a:r>
              <a:rPr lang="es-ES" dirty="0"/>
              <a:t> </a:t>
            </a:r>
            <a:r>
              <a:rPr lang="es-ES" b="0" dirty="0" err="1"/>
              <a:t>learning</a:t>
            </a:r>
            <a:r>
              <a:rPr lang="es-ES" b="0" dirty="0"/>
              <a:t> </a:t>
            </a:r>
            <a:r>
              <a:rPr lang="es-ES" b="0" dirty="0" err="1"/>
              <a:t>environment</a:t>
            </a:r>
            <a:endParaRPr b="0" dirty="0"/>
          </a:p>
        </p:txBody>
      </p:sp>
      <p:sp>
        <p:nvSpPr>
          <p:cNvPr id="2" name="Google Shape;116;p21">
            <a:extLst>
              <a:ext uri="{FF2B5EF4-FFF2-40B4-BE49-F238E27FC236}">
                <a16:creationId xmlns:a16="http://schemas.microsoft.com/office/drawing/2014/main" id="{211605B1-199F-8C7F-0F20-4BF02D00A80C}"/>
              </a:ext>
            </a:extLst>
          </p:cNvPr>
          <p:cNvSpPr txBox="1">
            <a:spLocks/>
          </p:cNvSpPr>
          <p:nvPr/>
        </p:nvSpPr>
        <p:spPr>
          <a:xfrm>
            <a:off x="166750" y="-133258"/>
            <a:ext cx="7347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b="1" dirty="0">
                <a:latin typeface="Poppins" pitchFamily="2" charset="77"/>
                <a:cs typeface="Poppins" pitchFamily="2" charset="77"/>
              </a:rPr>
              <a:t>04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755FE4-D0C5-78FE-8A30-45739077EE92}"/>
              </a:ext>
            </a:extLst>
          </p:cNvPr>
          <p:cNvSpPr txBox="1"/>
          <p:nvPr/>
        </p:nvSpPr>
        <p:spPr>
          <a:xfrm>
            <a:off x="764525" y="30160"/>
            <a:ext cx="31402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s-ES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System</a:t>
            </a:r>
            <a:r>
              <a:rPr lang="es-ES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s-ES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Overview</a:t>
            </a:r>
            <a:r>
              <a:rPr lang="es-ES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(High </a:t>
            </a:r>
            <a:r>
              <a:rPr lang="es-ES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Level</a:t>
            </a:r>
            <a:r>
              <a:rPr lang="es-ES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)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7C77A35-828D-ABE6-0B12-BB8F9B008862}"/>
              </a:ext>
            </a:extLst>
          </p:cNvPr>
          <p:cNvSpPr txBox="1"/>
          <p:nvPr/>
        </p:nvSpPr>
        <p:spPr>
          <a:xfrm>
            <a:off x="6093475" y="0"/>
            <a:ext cx="30505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s-ES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01</a:t>
            </a:r>
            <a:r>
              <a:rPr lang="es-ES" b="1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s-ES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02 03 </a:t>
            </a:r>
            <a:r>
              <a:rPr lang="es-ES" b="1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04</a:t>
            </a:r>
            <a:r>
              <a:rPr lang="es-ES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05 06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B8E5F46-345A-49EC-05EC-06734CEFECE3}"/>
              </a:ext>
            </a:extLst>
          </p:cNvPr>
          <p:cNvSpPr txBox="1"/>
          <p:nvPr/>
        </p:nvSpPr>
        <p:spPr>
          <a:xfrm>
            <a:off x="98550" y="4008316"/>
            <a:ext cx="19131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100" b="1" dirty="0" err="1">
                <a:latin typeface="Didact Gothic" pitchFamily="2" charset="0"/>
              </a:rPr>
              <a:t>Orchestrator</a:t>
            </a:r>
            <a:r>
              <a:rPr lang="es-ES" sz="1100" b="1" dirty="0">
                <a:latin typeface="Didact Gothic" pitchFamily="2" charset="0"/>
              </a:rPr>
              <a:t> </a:t>
            </a:r>
            <a:r>
              <a:rPr lang="es-ES" sz="1100" b="1" dirty="0" err="1">
                <a:latin typeface="Didact Gothic" pitchFamily="2" charset="0"/>
              </a:rPr>
              <a:t>agent</a:t>
            </a:r>
            <a:br>
              <a:rPr lang="es-ES" sz="1100" dirty="0">
                <a:latin typeface="Didact Gothic" pitchFamily="2" charset="0"/>
              </a:rPr>
            </a:br>
            <a:r>
              <a:rPr lang="es-ES" sz="1100" dirty="0">
                <a:latin typeface="Didact Gothic" pitchFamily="2" charset="0"/>
              </a:rPr>
              <a:t>Defines </a:t>
            </a:r>
            <a:r>
              <a:rPr lang="es-ES" sz="1100" dirty="0" err="1">
                <a:latin typeface="Didact Gothic" pitchFamily="2" charset="0"/>
              </a:rPr>
              <a:t>learning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objectives</a:t>
            </a:r>
            <a:r>
              <a:rPr lang="es-ES" sz="1100" dirty="0">
                <a:latin typeface="Didact Gothic" pitchFamily="2" charset="0"/>
              </a:rPr>
              <a:t>, </a:t>
            </a:r>
            <a:r>
              <a:rPr lang="es-ES" sz="1100" dirty="0" err="1">
                <a:latin typeface="Didact Gothic" pitchFamily="2" charset="0"/>
              </a:rPr>
              <a:t>adapts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difficulty</a:t>
            </a:r>
            <a:r>
              <a:rPr lang="es-ES" sz="1100" dirty="0">
                <a:latin typeface="Didact Gothic" pitchFamily="2" charset="0"/>
              </a:rPr>
              <a:t>, and </a:t>
            </a:r>
            <a:r>
              <a:rPr lang="es-ES" sz="1100" dirty="0" err="1">
                <a:latin typeface="Didact Gothic" pitchFamily="2" charset="0"/>
              </a:rPr>
              <a:t>structures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feedback</a:t>
            </a:r>
            <a:endParaRPr lang="es-ES" sz="1100" dirty="0">
              <a:latin typeface="Didact Gothic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2C44845-538B-805B-B43A-C8EDF5BDD9BF}"/>
              </a:ext>
            </a:extLst>
          </p:cNvPr>
          <p:cNvSpPr txBox="1"/>
          <p:nvPr/>
        </p:nvSpPr>
        <p:spPr>
          <a:xfrm>
            <a:off x="2070321" y="4008316"/>
            <a:ext cx="1753263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100" b="1" dirty="0" err="1">
                <a:latin typeface="Didact Gothic" pitchFamily="2" charset="0"/>
              </a:rPr>
              <a:t>Scenario</a:t>
            </a:r>
            <a:r>
              <a:rPr lang="es-ES" sz="1100" b="1" dirty="0">
                <a:latin typeface="Didact Gothic" pitchFamily="2" charset="0"/>
              </a:rPr>
              <a:t> &amp; Case </a:t>
            </a:r>
            <a:r>
              <a:rPr lang="es-ES" sz="1100" b="1" dirty="0" err="1">
                <a:latin typeface="Didact Gothic" pitchFamily="2" charset="0"/>
              </a:rPr>
              <a:t>Designer</a:t>
            </a:r>
            <a:r>
              <a:rPr lang="es-ES" sz="1100" b="1" dirty="0">
                <a:latin typeface="Didact Gothic" pitchFamily="2" charset="0"/>
              </a:rPr>
              <a:t> </a:t>
            </a:r>
            <a:r>
              <a:rPr lang="es-ES" sz="1100" b="1" dirty="0" err="1">
                <a:latin typeface="Didact Gothic" pitchFamily="2" charset="0"/>
              </a:rPr>
              <a:t>agent</a:t>
            </a:r>
            <a:br>
              <a:rPr lang="es-ES" sz="1100" dirty="0">
                <a:latin typeface="Didact Gothic" pitchFamily="2" charset="0"/>
              </a:rPr>
            </a:br>
            <a:r>
              <a:rPr lang="es-ES" sz="1100" dirty="0" err="1">
                <a:latin typeface="Didact Gothic" pitchFamily="2" charset="0"/>
              </a:rPr>
              <a:t>Generates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business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contexts</a:t>
            </a:r>
            <a:r>
              <a:rPr lang="es-ES" sz="1100" dirty="0">
                <a:latin typeface="Didact Gothic" pitchFamily="2" charset="0"/>
              </a:rPr>
              <a:t>, </a:t>
            </a:r>
            <a:r>
              <a:rPr lang="es-ES" sz="1100" dirty="0" err="1">
                <a:latin typeface="Didact Gothic" pitchFamily="2" charset="0"/>
              </a:rPr>
              <a:t>constraints</a:t>
            </a:r>
            <a:r>
              <a:rPr lang="es-ES" sz="1100" dirty="0">
                <a:latin typeface="Didact Gothic" pitchFamily="2" charset="0"/>
              </a:rPr>
              <a:t>, and </a:t>
            </a:r>
            <a:r>
              <a:rPr lang="es-ES" sz="1100" dirty="0" err="1">
                <a:latin typeface="Didact Gothic" pitchFamily="2" charset="0"/>
              </a:rPr>
              <a:t>market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conditions</a:t>
            </a:r>
            <a:endParaRPr lang="es-ES" sz="1100" dirty="0">
              <a:latin typeface="Didact Gothic" pitchFamily="2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4B7EB28-12A8-4155-3CF0-807F55DA643C}"/>
              </a:ext>
            </a:extLst>
          </p:cNvPr>
          <p:cNvSpPr txBox="1"/>
          <p:nvPr/>
        </p:nvSpPr>
        <p:spPr>
          <a:xfrm>
            <a:off x="3882225" y="4008316"/>
            <a:ext cx="146701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100" b="1" dirty="0">
                <a:latin typeface="Didact Gothic" pitchFamily="2" charset="0"/>
              </a:rPr>
              <a:t>Role-</a:t>
            </a:r>
            <a:r>
              <a:rPr lang="es-ES" sz="1100" b="1" dirty="0" err="1">
                <a:latin typeface="Didact Gothic" pitchFamily="2" charset="0"/>
              </a:rPr>
              <a:t>playing</a:t>
            </a:r>
            <a:r>
              <a:rPr lang="es-ES" sz="1100" b="1" dirty="0">
                <a:latin typeface="Didact Gothic" pitchFamily="2" charset="0"/>
              </a:rPr>
              <a:t> </a:t>
            </a:r>
            <a:r>
              <a:rPr lang="es-ES" sz="1100" b="1" dirty="0" err="1">
                <a:latin typeface="Didact Gothic" pitchFamily="2" charset="0"/>
              </a:rPr>
              <a:t>agents</a:t>
            </a:r>
            <a:br>
              <a:rPr lang="es-ES" sz="1100" dirty="0">
                <a:latin typeface="Didact Gothic" pitchFamily="2" charset="0"/>
              </a:rPr>
            </a:br>
            <a:r>
              <a:rPr lang="es-ES" sz="1100" dirty="0" err="1">
                <a:latin typeface="Didact Gothic" pitchFamily="2" charset="0"/>
              </a:rPr>
              <a:t>Clients</a:t>
            </a:r>
            <a:r>
              <a:rPr lang="es-ES" sz="1100" dirty="0">
                <a:latin typeface="Didact Gothic" pitchFamily="2" charset="0"/>
              </a:rPr>
              <a:t>, </a:t>
            </a:r>
            <a:r>
              <a:rPr lang="es-ES" sz="1100" dirty="0" err="1">
                <a:latin typeface="Didact Gothic" pitchFamily="2" charset="0"/>
              </a:rPr>
              <a:t>competitors</a:t>
            </a:r>
            <a:r>
              <a:rPr lang="es-ES" sz="1100" dirty="0">
                <a:latin typeface="Didact Gothic" pitchFamily="2" charset="0"/>
              </a:rPr>
              <a:t>, and </a:t>
            </a:r>
            <a:r>
              <a:rPr lang="es-ES" sz="1100" dirty="0" err="1">
                <a:latin typeface="Didact Gothic" pitchFamily="2" charset="0"/>
              </a:rPr>
              <a:t>financial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institutions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with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distinct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objectives</a:t>
            </a:r>
            <a:endParaRPr lang="es-ES" sz="1100" dirty="0">
              <a:latin typeface="Didact Gothic" pitchFamily="2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E836955-E6FC-EE49-B626-4986BA4031C2}"/>
              </a:ext>
            </a:extLst>
          </p:cNvPr>
          <p:cNvSpPr txBox="1"/>
          <p:nvPr/>
        </p:nvSpPr>
        <p:spPr>
          <a:xfrm>
            <a:off x="5407881" y="4039082"/>
            <a:ext cx="19440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100" b="1" dirty="0" err="1">
                <a:latin typeface="Didact Gothic" pitchFamily="2" charset="0"/>
              </a:rPr>
              <a:t>Judge</a:t>
            </a:r>
            <a:r>
              <a:rPr lang="es-ES" sz="1100" b="1" dirty="0">
                <a:latin typeface="Didact Gothic" pitchFamily="2" charset="0"/>
              </a:rPr>
              <a:t> / </a:t>
            </a:r>
            <a:r>
              <a:rPr lang="es-ES" sz="1100" b="1" dirty="0" err="1">
                <a:latin typeface="Didact Gothic" pitchFamily="2" charset="0"/>
              </a:rPr>
              <a:t>Evaluation</a:t>
            </a:r>
            <a:r>
              <a:rPr lang="es-ES" sz="1100" b="1" dirty="0">
                <a:latin typeface="Didact Gothic" pitchFamily="2" charset="0"/>
              </a:rPr>
              <a:t> </a:t>
            </a:r>
            <a:r>
              <a:rPr lang="es-ES" sz="1100" b="1" dirty="0" err="1">
                <a:latin typeface="Didact Gothic" pitchFamily="2" charset="0"/>
              </a:rPr>
              <a:t>agent</a:t>
            </a:r>
            <a:br>
              <a:rPr lang="es-ES" sz="1100" dirty="0">
                <a:latin typeface="Didact Gothic" pitchFamily="2" charset="0"/>
              </a:rPr>
            </a:br>
            <a:r>
              <a:rPr lang="es-ES" sz="1100" dirty="0" err="1">
                <a:latin typeface="Didact Gothic" pitchFamily="2" charset="0"/>
              </a:rPr>
              <a:t>Assesses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decisions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using</a:t>
            </a:r>
            <a:r>
              <a:rPr lang="es-ES" sz="1100" dirty="0">
                <a:latin typeface="Didact Gothic" pitchFamily="2" charset="0"/>
              </a:rPr>
              <a:t> a </a:t>
            </a:r>
            <a:r>
              <a:rPr lang="es-ES" sz="1100" dirty="0" err="1">
                <a:latin typeface="Didact Gothic" pitchFamily="2" charset="0"/>
              </a:rPr>
              <a:t>pedagogical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rubric</a:t>
            </a:r>
            <a:r>
              <a:rPr lang="es-ES" sz="1100" dirty="0">
                <a:latin typeface="Didact Gothic" pitchFamily="2" charset="0"/>
              </a:rPr>
              <a:t> and </a:t>
            </a:r>
            <a:r>
              <a:rPr lang="es-ES" sz="1100" dirty="0" err="1">
                <a:latin typeface="Didact Gothic" pitchFamily="2" charset="0"/>
              </a:rPr>
              <a:t>explains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outcomes</a:t>
            </a:r>
            <a:endParaRPr lang="es-ES" sz="1100" dirty="0">
              <a:latin typeface="Didact Gothic" pitchFamily="2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D21A5C5-358E-A6FF-84AD-2BF8C70183C0}"/>
              </a:ext>
            </a:extLst>
          </p:cNvPr>
          <p:cNvSpPr txBox="1"/>
          <p:nvPr/>
        </p:nvSpPr>
        <p:spPr>
          <a:xfrm>
            <a:off x="7410616" y="4039082"/>
            <a:ext cx="17333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 dirty="0" err="1">
                <a:latin typeface="Didact Gothic" pitchFamily="2" charset="0"/>
              </a:rPr>
              <a:t>Student</a:t>
            </a:r>
            <a:br>
              <a:rPr lang="es-ES" sz="1100" dirty="0">
                <a:latin typeface="Didact Gothic" pitchFamily="2" charset="0"/>
              </a:rPr>
            </a:br>
            <a:r>
              <a:rPr lang="es-ES" sz="1100" dirty="0" err="1">
                <a:latin typeface="Didact Gothic" pitchFamily="2" charset="0"/>
              </a:rPr>
              <a:t>Makes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strategic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decisions</a:t>
            </a:r>
            <a:r>
              <a:rPr lang="es-ES" sz="1100" dirty="0">
                <a:latin typeface="Didact Gothic" pitchFamily="2" charset="0"/>
              </a:rPr>
              <a:t> and observes </a:t>
            </a:r>
            <a:r>
              <a:rPr lang="es-ES" sz="1100" dirty="0" err="1">
                <a:latin typeface="Didact Gothic" pitchFamily="2" charset="0"/>
              </a:rPr>
              <a:t>consequences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over</a:t>
            </a:r>
            <a:r>
              <a:rPr lang="es-ES" sz="1100" dirty="0">
                <a:latin typeface="Didact Gothic" pitchFamily="2" charset="0"/>
              </a:rPr>
              <a:t> time</a:t>
            </a:r>
          </a:p>
        </p:txBody>
      </p:sp>
      <p:pic>
        <p:nvPicPr>
          <p:cNvPr id="4106" name="Picture 10">
            <a:extLst>
              <a:ext uri="{FF2B5EF4-FFF2-40B4-BE49-F238E27FC236}">
                <a16:creationId xmlns:a16="http://schemas.microsoft.com/office/drawing/2014/main" id="{43036F73-F1BC-2226-F407-BB3989E3C8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27"/>
          <a:stretch/>
        </p:blipFill>
        <p:spPr bwMode="auto">
          <a:xfrm>
            <a:off x="409275" y="1112200"/>
            <a:ext cx="8325450" cy="2730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391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>
          <a:extLst>
            <a:ext uri="{FF2B5EF4-FFF2-40B4-BE49-F238E27FC236}">
              <a16:creationId xmlns:a16="http://schemas.microsoft.com/office/drawing/2014/main" id="{C94CBABB-ACB0-9D5C-2706-743395B99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">
            <a:extLst>
              <a:ext uri="{FF2B5EF4-FFF2-40B4-BE49-F238E27FC236}">
                <a16:creationId xmlns:a16="http://schemas.microsoft.com/office/drawing/2014/main" id="{6115E2EA-21F0-245B-9129-5BFF6FA21F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0" dirty="0" err="1"/>
              <a:t>Lecturer</a:t>
            </a:r>
            <a:r>
              <a:rPr lang="es-ES" dirty="0"/>
              <a:t> </a:t>
            </a:r>
            <a:r>
              <a:rPr lang="es-ES" b="0" dirty="0"/>
              <a:t>can</a:t>
            </a:r>
            <a:r>
              <a:rPr lang="es-ES" dirty="0"/>
              <a:t> </a:t>
            </a:r>
            <a:r>
              <a:rPr lang="es-ES" dirty="0" err="1"/>
              <a:t>tailor</a:t>
            </a:r>
            <a:r>
              <a:rPr lang="es-ES" dirty="0"/>
              <a:t> </a:t>
            </a:r>
            <a:r>
              <a:rPr lang="es-ES" b="0" dirty="0" err="1"/>
              <a:t>the</a:t>
            </a:r>
            <a:r>
              <a:rPr lang="es-ES" b="0" dirty="0"/>
              <a:t> </a:t>
            </a:r>
            <a:r>
              <a:rPr lang="es-ES" b="0" dirty="0" err="1"/>
              <a:t>system</a:t>
            </a:r>
            <a:endParaRPr b="0" dirty="0"/>
          </a:p>
        </p:txBody>
      </p:sp>
      <p:sp>
        <p:nvSpPr>
          <p:cNvPr id="2" name="Google Shape;116;p21">
            <a:extLst>
              <a:ext uri="{FF2B5EF4-FFF2-40B4-BE49-F238E27FC236}">
                <a16:creationId xmlns:a16="http://schemas.microsoft.com/office/drawing/2014/main" id="{8C90B08B-CCCB-DBEA-6ADB-5231BB439047}"/>
              </a:ext>
            </a:extLst>
          </p:cNvPr>
          <p:cNvSpPr txBox="1">
            <a:spLocks/>
          </p:cNvSpPr>
          <p:nvPr/>
        </p:nvSpPr>
        <p:spPr>
          <a:xfrm>
            <a:off x="166750" y="-133258"/>
            <a:ext cx="7347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b="1" dirty="0">
                <a:latin typeface="Poppins" pitchFamily="2" charset="77"/>
                <a:cs typeface="Poppins" pitchFamily="2" charset="77"/>
              </a:rPr>
              <a:t>04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7E25116-8B38-6A64-7B73-B96EF6DA1905}"/>
              </a:ext>
            </a:extLst>
          </p:cNvPr>
          <p:cNvSpPr txBox="1"/>
          <p:nvPr/>
        </p:nvSpPr>
        <p:spPr>
          <a:xfrm>
            <a:off x="764525" y="30160"/>
            <a:ext cx="31402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s-ES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System</a:t>
            </a:r>
            <a:r>
              <a:rPr lang="es-ES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s-ES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Overview</a:t>
            </a:r>
            <a:r>
              <a:rPr lang="es-ES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(High </a:t>
            </a:r>
            <a:r>
              <a:rPr lang="es-ES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Level</a:t>
            </a:r>
            <a:r>
              <a:rPr lang="es-ES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)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5E8261-1301-F70D-082D-4AB54B21F9A3}"/>
              </a:ext>
            </a:extLst>
          </p:cNvPr>
          <p:cNvSpPr txBox="1"/>
          <p:nvPr/>
        </p:nvSpPr>
        <p:spPr>
          <a:xfrm>
            <a:off x="6093475" y="0"/>
            <a:ext cx="30505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s-ES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01</a:t>
            </a:r>
            <a:r>
              <a:rPr lang="es-ES" b="1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s-ES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02 03 </a:t>
            </a:r>
            <a:r>
              <a:rPr lang="es-ES" b="1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04</a:t>
            </a:r>
            <a:r>
              <a:rPr lang="es-ES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05 06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93B1C0F-64F4-3960-5114-4889CC44D325}"/>
              </a:ext>
            </a:extLst>
          </p:cNvPr>
          <p:cNvSpPr txBox="1"/>
          <p:nvPr/>
        </p:nvSpPr>
        <p:spPr>
          <a:xfrm>
            <a:off x="438595" y="1113962"/>
            <a:ext cx="826681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Instructors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can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adapt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the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pedagogical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content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of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the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simulation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through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four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clearly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separated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configuration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points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: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business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cases, RAG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knowledge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files,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assessment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rubrics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, and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learning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objectives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.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These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inputs are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read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by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the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CaseDesigner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,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Orchestrator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,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ToolAgent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, and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Judge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agents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respectively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.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The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core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LangGraph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structure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,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memory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system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, and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reasoning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processes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remain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fixed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to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guarantee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consistency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and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reproducibility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across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1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sessions</a:t>
            </a:r>
            <a:r>
              <a:rPr lang="es-ES" sz="11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.</a:t>
            </a:r>
            <a:endParaRPr lang="es-ES" sz="1000" dirty="0">
              <a:latin typeface="Didact Gothic" pitchFamily="2" charset="0"/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127EB887-8695-EBFD-8D61-A556B19C1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15" y="1883403"/>
            <a:ext cx="8188570" cy="3119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5559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>
          <a:extLst>
            <a:ext uri="{FF2B5EF4-FFF2-40B4-BE49-F238E27FC236}">
              <a16:creationId xmlns:a16="http://schemas.microsoft.com/office/drawing/2014/main" id="{F4E7B013-5F05-6ADD-FE20-EACBF070F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">
            <a:extLst>
              <a:ext uri="{FF2B5EF4-FFF2-40B4-BE49-F238E27FC236}">
                <a16:creationId xmlns:a16="http://schemas.microsoft.com/office/drawing/2014/main" id="{A6E7AE32-F57C-ED06-EB57-C3A0B41F29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b="0" dirty="0" err="1"/>
              <a:t>Agents</a:t>
            </a:r>
            <a:r>
              <a:rPr lang="es-ES" b="0" dirty="0"/>
              <a:t> </a:t>
            </a:r>
            <a:r>
              <a:rPr lang="es-ES" b="0" dirty="0" err="1"/>
              <a:t>have</a:t>
            </a:r>
            <a:r>
              <a:rPr lang="es-ES" b="0" dirty="0"/>
              <a:t> </a:t>
            </a:r>
            <a:r>
              <a:rPr lang="es-ES" b="0" dirty="0" err="1"/>
              <a:t>access</a:t>
            </a:r>
            <a:r>
              <a:rPr lang="es-ES" b="0" dirty="0"/>
              <a:t> </a:t>
            </a:r>
            <a:r>
              <a:rPr lang="es-ES" b="0" dirty="0" err="1"/>
              <a:t>to</a:t>
            </a:r>
            <a:r>
              <a:rPr lang="es-ES" b="0" dirty="0"/>
              <a:t> </a:t>
            </a:r>
            <a:r>
              <a:rPr lang="es-ES" b="0" dirty="0" err="1"/>
              <a:t>different</a:t>
            </a:r>
            <a:r>
              <a:rPr lang="es-ES" b="0" dirty="0"/>
              <a:t> </a:t>
            </a:r>
            <a:r>
              <a:rPr lang="es-ES" dirty="0" err="1"/>
              <a:t>tools</a:t>
            </a:r>
            <a:endParaRPr dirty="0"/>
          </a:p>
        </p:txBody>
      </p:sp>
      <p:sp>
        <p:nvSpPr>
          <p:cNvPr id="2" name="Google Shape;116;p21">
            <a:extLst>
              <a:ext uri="{FF2B5EF4-FFF2-40B4-BE49-F238E27FC236}">
                <a16:creationId xmlns:a16="http://schemas.microsoft.com/office/drawing/2014/main" id="{522D21EB-84F0-A467-9ACC-645415B9B69D}"/>
              </a:ext>
            </a:extLst>
          </p:cNvPr>
          <p:cNvSpPr txBox="1">
            <a:spLocks/>
          </p:cNvSpPr>
          <p:nvPr/>
        </p:nvSpPr>
        <p:spPr>
          <a:xfrm>
            <a:off x="166750" y="-133258"/>
            <a:ext cx="7347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b="1" dirty="0">
                <a:latin typeface="Poppins" pitchFamily="2" charset="77"/>
                <a:cs typeface="Poppins" pitchFamily="2" charset="77"/>
              </a:rPr>
              <a:t>04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DCC86A3-1C3E-AFBB-D60A-C34E6FD1C357}"/>
              </a:ext>
            </a:extLst>
          </p:cNvPr>
          <p:cNvSpPr txBox="1"/>
          <p:nvPr/>
        </p:nvSpPr>
        <p:spPr>
          <a:xfrm>
            <a:off x="764525" y="30160"/>
            <a:ext cx="31402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s-ES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System</a:t>
            </a:r>
            <a:r>
              <a:rPr lang="es-ES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s-ES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Overview</a:t>
            </a:r>
            <a:r>
              <a:rPr lang="es-ES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(High </a:t>
            </a:r>
            <a:r>
              <a:rPr lang="es-ES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Level</a:t>
            </a:r>
            <a:r>
              <a:rPr lang="es-ES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)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0BF017B-8A28-3182-D206-EE0EDDD6C376}"/>
              </a:ext>
            </a:extLst>
          </p:cNvPr>
          <p:cNvSpPr txBox="1"/>
          <p:nvPr/>
        </p:nvSpPr>
        <p:spPr>
          <a:xfrm>
            <a:off x="6093475" y="0"/>
            <a:ext cx="30505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s-ES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01</a:t>
            </a:r>
            <a:r>
              <a:rPr lang="es-ES" b="1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s-ES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02 03 </a:t>
            </a:r>
            <a:r>
              <a:rPr lang="es-ES" b="1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04</a:t>
            </a:r>
            <a:r>
              <a:rPr lang="es-ES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05 06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7DAE8BB-697F-247F-AB22-7F3B3130C4CD}"/>
              </a:ext>
            </a:extLst>
          </p:cNvPr>
          <p:cNvSpPr txBox="1"/>
          <p:nvPr/>
        </p:nvSpPr>
        <p:spPr>
          <a:xfrm>
            <a:off x="438595" y="1113962"/>
            <a:ext cx="826681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100" b="1" dirty="0">
                <a:latin typeface="Didact Gothic" pitchFamily="2" charset="0"/>
              </a:rPr>
              <a:t>Tool </a:t>
            </a:r>
            <a:r>
              <a:rPr lang="es-ES" sz="1100" b="1" dirty="0" err="1">
                <a:latin typeface="Didact Gothic" pitchFamily="2" charset="0"/>
              </a:rPr>
              <a:t>Agent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acts</a:t>
            </a:r>
            <a:r>
              <a:rPr lang="es-ES" sz="1100" dirty="0">
                <a:latin typeface="Didact Gothic" pitchFamily="2" charset="0"/>
              </a:rPr>
              <a:t> as </a:t>
            </a:r>
            <a:r>
              <a:rPr lang="es-ES" sz="1100" dirty="0" err="1">
                <a:latin typeface="Didact Gothic" pitchFamily="2" charset="0"/>
              </a:rPr>
              <a:t>the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action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layer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of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the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system</a:t>
            </a:r>
            <a:r>
              <a:rPr lang="es-ES" sz="1100" dirty="0">
                <a:latin typeface="Didact Gothic" pitchFamily="2" charset="0"/>
              </a:rPr>
              <a:t>, </a:t>
            </a:r>
            <a:r>
              <a:rPr lang="es-ES" sz="1100" dirty="0" err="1">
                <a:latin typeface="Didact Gothic" pitchFamily="2" charset="0"/>
              </a:rPr>
              <a:t>abstracting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access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to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external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tools</a:t>
            </a:r>
            <a:r>
              <a:rPr lang="es-ES" sz="1100" dirty="0">
                <a:latin typeface="Didact Gothic" pitchFamily="2" charset="0"/>
              </a:rPr>
              <a:t>. </a:t>
            </a:r>
            <a:r>
              <a:rPr lang="es-ES" sz="1100" dirty="0" err="1">
                <a:latin typeface="Didact Gothic" pitchFamily="2" charset="0"/>
              </a:rPr>
              <a:t>It</a:t>
            </a:r>
            <a:r>
              <a:rPr lang="es-ES" sz="1100" dirty="0">
                <a:latin typeface="Didact Gothic" pitchFamily="2" charset="0"/>
              </a:rPr>
              <a:t> decides </a:t>
            </a:r>
            <a:r>
              <a:rPr lang="es-ES" sz="1100" dirty="0" err="1">
                <a:latin typeface="Didact Gothic" pitchFamily="2" charset="0"/>
              </a:rPr>
              <a:t>when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to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retrieve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domain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knowledge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through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b="1" dirty="0">
                <a:latin typeface="Didact Gothic" pitchFamily="2" charset="0"/>
              </a:rPr>
              <a:t>RAG</a:t>
            </a:r>
            <a:r>
              <a:rPr lang="es-ES" sz="1100" dirty="0">
                <a:latin typeface="Didact Gothic" pitchFamily="2" charset="0"/>
              </a:rPr>
              <a:t>, </a:t>
            </a:r>
            <a:r>
              <a:rPr lang="es-ES" sz="1100" dirty="0" err="1">
                <a:latin typeface="Didact Gothic" pitchFamily="2" charset="0"/>
              </a:rPr>
              <a:t>when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to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perform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quantitative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reasoning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using</a:t>
            </a:r>
            <a:r>
              <a:rPr lang="es-ES" sz="1100" dirty="0">
                <a:latin typeface="Didact Gothic" pitchFamily="2" charset="0"/>
              </a:rPr>
              <a:t> a </a:t>
            </a:r>
            <a:r>
              <a:rPr lang="es-ES" sz="1100" b="1" dirty="0" err="1">
                <a:latin typeface="Didact Gothic" pitchFamily="2" charset="0"/>
              </a:rPr>
              <a:t>financial</a:t>
            </a:r>
            <a:r>
              <a:rPr lang="es-ES" sz="1100" b="1" dirty="0">
                <a:latin typeface="Didact Gothic" pitchFamily="2" charset="0"/>
              </a:rPr>
              <a:t> </a:t>
            </a:r>
            <a:r>
              <a:rPr lang="es-ES" sz="1100" b="1" dirty="0" err="1">
                <a:latin typeface="Didact Gothic" pitchFamily="2" charset="0"/>
              </a:rPr>
              <a:t>calculator</a:t>
            </a:r>
            <a:r>
              <a:rPr lang="es-ES" sz="1100" dirty="0">
                <a:latin typeface="Didact Gothic" pitchFamily="2" charset="0"/>
              </a:rPr>
              <a:t>, and </a:t>
            </a:r>
            <a:r>
              <a:rPr lang="es-ES" sz="1100" dirty="0" err="1">
                <a:latin typeface="Didact Gothic" pitchFamily="2" charset="0"/>
              </a:rPr>
              <a:t>when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to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evaluate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strategic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consequences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via</a:t>
            </a:r>
            <a:r>
              <a:rPr lang="es-ES" sz="1100" dirty="0">
                <a:latin typeface="Didact Gothic" pitchFamily="2" charset="0"/>
              </a:rPr>
              <a:t> a </a:t>
            </a:r>
            <a:r>
              <a:rPr lang="es-ES" sz="1100" b="1" dirty="0">
                <a:latin typeface="Didact Gothic" pitchFamily="2" charset="0"/>
              </a:rPr>
              <a:t>P&amp;L </a:t>
            </a:r>
            <a:r>
              <a:rPr lang="es-ES" sz="1100" b="1" dirty="0" err="1">
                <a:latin typeface="Didact Gothic" pitchFamily="2" charset="0"/>
              </a:rPr>
              <a:t>simulator</a:t>
            </a:r>
            <a:r>
              <a:rPr lang="es-ES" sz="1100" dirty="0">
                <a:latin typeface="Didact Gothic" pitchFamily="2" charset="0"/>
              </a:rPr>
              <a:t>. </a:t>
            </a:r>
            <a:r>
              <a:rPr lang="es-ES" sz="1100" dirty="0" err="1">
                <a:latin typeface="Didact Gothic" pitchFamily="2" charset="0"/>
              </a:rPr>
              <a:t>This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separation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allows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other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agents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to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focus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on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decision-making</a:t>
            </a:r>
            <a:r>
              <a:rPr lang="es-ES" sz="1100" dirty="0">
                <a:latin typeface="Didact Gothic" pitchFamily="2" charset="0"/>
              </a:rPr>
              <a:t> and </a:t>
            </a:r>
            <a:r>
              <a:rPr lang="es-ES" sz="1100" dirty="0" err="1">
                <a:latin typeface="Didact Gothic" pitchFamily="2" charset="0"/>
              </a:rPr>
              <a:t>interaction</a:t>
            </a:r>
            <a:r>
              <a:rPr lang="es-ES" sz="1100" dirty="0">
                <a:latin typeface="Didact Gothic" pitchFamily="2" charset="0"/>
              </a:rPr>
              <a:t>, </a:t>
            </a:r>
            <a:r>
              <a:rPr lang="es-ES" sz="1100" dirty="0" err="1">
                <a:latin typeface="Didact Gothic" pitchFamily="2" charset="0"/>
              </a:rPr>
              <a:t>while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the</a:t>
            </a:r>
            <a:r>
              <a:rPr lang="es-ES" sz="1100" dirty="0">
                <a:latin typeface="Didact Gothic" pitchFamily="2" charset="0"/>
              </a:rPr>
              <a:t> Tool </a:t>
            </a:r>
            <a:r>
              <a:rPr lang="es-ES" sz="1100" dirty="0" err="1">
                <a:latin typeface="Didact Gothic" pitchFamily="2" charset="0"/>
              </a:rPr>
              <a:t>Agent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ensures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that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actions</a:t>
            </a:r>
            <a:r>
              <a:rPr lang="es-ES" sz="1100" dirty="0">
                <a:latin typeface="Didact Gothic" pitchFamily="2" charset="0"/>
              </a:rPr>
              <a:t> are </a:t>
            </a:r>
            <a:r>
              <a:rPr lang="es-ES" sz="1100" dirty="0" err="1">
                <a:latin typeface="Didact Gothic" pitchFamily="2" charset="0"/>
              </a:rPr>
              <a:t>grounded</a:t>
            </a:r>
            <a:r>
              <a:rPr lang="es-ES" sz="1100" dirty="0">
                <a:latin typeface="Didact Gothic" pitchFamily="2" charset="0"/>
              </a:rPr>
              <a:t> in data, </a:t>
            </a:r>
            <a:r>
              <a:rPr lang="es-ES" sz="1100" dirty="0" err="1">
                <a:latin typeface="Didact Gothic" pitchFamily="2" charset="0"/>
              </a:rPr>
              <a:t>calculations</a:t>
            </a:r>
            <a:r>
              <a:rPr lang="es-ES" sz="1100" dirty="0">
                <a:latin typeface="Didact Gothic" pitchFamily="2" charset="0"/>
              </a:rPr>
              <a:t>, and </a:t>
            </a:r>
            <a:r>
              <a:rPr lang="es-ES" sz="1100" dirty="0" err="1">
                <a:latin typeface="Didact Gothic" pitchFamily="2" charset="0"/>
              </a:rPr>
              <a:t>controlled</a:t>
            </a:r>
            <a:r>
              <a:rPr lang="es-ES" sz="1100" dirty="0">
                <a:latin typeface="Didact Gothic" pitchFamily="2" charset="0"/>
              </a:rPr>
              <a:t> </a:t>
            </a:r>
            <a:r>
              <a:rPr lang="es-ES" sz="1100" dirty="0" err="1">
                <a:latin typeface="Didact Gothic" pitchFamily="2" charset="0"/>
              </a:rPr>
              <a:t>simulations</a:t>
            </a:r>
            <a:r>
              <a:rPr lang="es-ES" sz="1100" dirty="0">
                <a:latin typeface="Didact Gothic" pitchFamily="2" charset="0"/>
              </a:rPr>
              <a:t>.</a:t>
            </a:r>
            <a:endParaRPr lang="es-ES" sz="800" dirty="0">
              <a:latin typeface="Didact Gothic" pitchFamily="2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64D32C0-636D-EF68-552C-C0A997656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604" y="2141370"/>
            <a:ext cx="6316792" cy="2020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436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>
          <a:extLst>
            <a:ext uri="{FF2B5EF4-FFF2-40B4-BE49-F238E27FC236}">
              <a16:creationId xmlns:a16="http://schemas.microsoft.com/office/drawing/2014/main" id="{D36EC8D5-CF7B-5ED7-DB6F-8A1E4256E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">
            <a:extLst>
              <a:ext uri="{FF2B5EF4-FFF2-40B4-BE49-F238E27FC236}">
                <a16:creationId xmlns:a16="http://schemas.microsoft.com/office/drawing/2014/main" id="{AABD9A77-0D7D-AE08-06E4-9947D78EFC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i="0" dirty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Learning</a:t>
            </a:r>
            <a:r>
              <a:rPr lang="es-ES" b="0" i="0" dirty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and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System</a:t>
            </a:r>
            <a:r>
              <a:rPr lang="es-ES" b="0" i="0" dirty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s-ES" b="1" i="0" dirty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Evaluation</a:t>
            </a:r>
            <a:endParaRPr lang="es-ES" b="1" i="0" dirty="0">
              <a:solidFill>
                <a:srgbClr val="000000"/>
              </a:solidFill>
              <a:effectLst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Google Shape;116;p21">
            <a:extLst>
              <a:ext uri="{FF2B5EF4-FFF2-40B4-BE49-F238E27FC236}">
                <a16:creationId xmlns:a16="http://schemas.microsoft.com/office/drawing/2014/main" id="{BDECF3C3-D1EA-3006-B43C-79537BDCF400}"/>
              </a:ext>
            </a:extLst>
          </p:cNvPr>
          <p:cNvSpPr txBox="1">
            <a:spLocks/>
          </p:cNvSpPr>
          <p:nvPr/>
        </p:nvSpPr>
        <p:spPr>
          <a:xfrm>
            <a:off x="166750" y="-133258"/>
            <a:ext cx="7347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b="1" dirty="0">
                <a:latin typeface="Poppins" pitchFamily="2" charset="77"/>
                <a:cs typeface="Poppins" pitchFamily="2" charset="77"/>
              </a:rPr>
              <a:t>04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3936032-B7E1-3ADD-BBA5-E4ED96D3A990}"/>
              </a:ext>
            </a:extLst>
          </p:cNvPr>
          <p:cNvSpPr txBox="1"/>
          <p:nvPr/>
        </p:nvSpPr>
        <p:spPr>
          <a:xfrm>
            <a:off x="764525" y="30160"/>
            <a:ext cx="31402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s-ES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System</a:t>
            </a:r>
            <a:r>
              <a:rPr lang="es-ES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s-ES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Overview</a:t>
            </a:r>
            <a:r>
              <a:rPr lang="es-ES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(High </a:t>
            </a:r>
            <a:r>
              <a:rPr lang="es-ES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Level</a:t>
            </a:r>
            <a:r>
              <a:rPr lang="es-ES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)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C27FA5D-F975-57DD-5682-F9055545F721}"/>
              </a:ext>
            </a:extLst>
          </p:cNvPr>
          <p:cNvSpPr txBox="1"/>
          <p:nvPr/>
        </p:nvSpPr>
        <p:spPr>
          <a:xfrm>
            <a:off x="6093475" y="0"/>
            <a:ext cx="30505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s-ES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01</a:t>
            </a:r>
            <a:r>
              <a:rPr lang="es-ES" b="1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s-ES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02 03 </a:t>
            </a:r>
            <a:r>
              <a:rPr lang="es-ES" b="1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04</a:t>
            </a:r>
            <a:r>
              <a:rPr lang="es-ES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05 06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408401F-B319-F970-58DF-CC77C68852D7}"/>
              </a:ext>
            </a:extLst>
          </p:cNvPr>
          <p:cNvSpPr txBox="1"/>
          <p:nvPr/>
        </p:nvSpPr>
        <p:spPr>
          <a:xfrm>
            <a:off x="438595" y="1113962"/>
            <a:ext cx="82668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To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ensure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both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pedagogical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rigour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and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system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reliability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,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evaluation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operates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on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two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intertwined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levels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: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student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learning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outcomes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and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the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internal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behaviour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of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the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agentic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system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itself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.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The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approach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combines human-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like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assessment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(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through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rubrics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and debates)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with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automated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benchmarks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for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reasoning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, </a:t>
            </a:r>
            <a:r>
              <a:rPr lang="es-ES" sz="1200" b="0" i="0" dirty="0" err="1">
                <a:solidFill>
                  <a:srgbClr val="000000"/>
                </a:solidFill>
                <a:effectLst/>
                <a:latin typeface="Didact Gothic" pitchFamily="2" charset="0"/>
              </a:rPr>
              <a:t>coordination</a:t>
            </a:r>
            <a:r>
              <a:rPr lang="es-ES" sz="1200" b="0" i="0" dirty="0">
                <a:solidFill>
                  <a:srgbClr val="000000"/>
                </a:solidFill>
                <a:effectLst/>
                <a:latin typeface="Didact Gothic" pitchFamily="2" charset="0"/>
              </a:rPr>
              <a:t>, and control.</a:t>
            </a:r>
            <a:endParaRPr lang="es-ES" sz="800" dirty="0">
              <a:latin typeface="Didact Gothic" pitchFamily="2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06768FAE-DC2C-B5B6-CBD8-EE6763478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055" y="1760293"/>
            <a:ext cx="6009890" cy="2849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9083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>
          <a:extLst>
            <a:ext uri="{FF2B5EF4-FFF2-40B4-BE49-F238E27FC236}">
              <a16:creationId xmlns:a16="http://schemas.microsoft.com/office/drawing/2014/main" id="{21DD53C3-B772-4065-E550-7B2939670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">
            <a:extLst>
              <a:ext uri="{FF2B5EF4-FFF2-40B4-BE49-F238E27FC236}">
                <a16:creationId xmlns:a16="http://schemas.microsoft.com/office/drawing/2014/main" id="{ECDBC035-3089-B779-8363-5C4D1A4727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i="0" dirty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Learning</a:t>
            </a:r>
            <a:r>
              <a:rPr lang="es-ES" b="0" i="0" dirty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and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System</a:t>
            </a:r>
            <a:r>
              <a:rPr lang="es-ES" b="0" i="0" dirty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s-ES" b="1" i="0" dirty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Evaluation</a:t>
            </a:r>
            <a:endParaRPr lang="es-ES" b="1" i="0" dirty="0">
              <a:solidFill>
                <a:srgbClr val="000000"/>
              </a:solidFill>
              <a:effectLst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Google Shape;116;p21">
            <a:extLst>
              <a:ext uri="{FF2B5EF4-FFF2-40B4-BE49-F238E27FC236}">
                <a16:creationId xmlns:a16="http://schemas.microsoft.com/office/drawing/2014/main" id="{CBA37C2F-FFD5-9982-0FFD-D533CEDBA2E5}"/>
              </a:ext>
            </a:extLst>
          </p:cNvPr>
          <p:cNvSpPr txBox="1">
            <a:spLocks/>
          </p:cNvSpPr>
          <p:nvPr/>
        </p:nvSpPr>
        <p:spPr>
          <a:xfrm>
            <a:off x="166750" y="-133258"/>
            <a:ext cx="7347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b="1" dirty="0">
                <a:latin typeface="Poppins" pitchFamily="2" charset="77"/>
                <a:cs typeface="Poppins" pitchFamily="2" charset="77"/>
              </a:rPr>
              <a:t>05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E08B6D0-A8A0-05D3-0817-3B052F5FE773}"/>
              </a:ext>
            </a:extLst>
          </p:cNvPr>
          <p:cNvSpPr txBox="1"/>
          <p:nvPr/>
        </p:nvSpPr>
        <p:spPr>
          <a:xfrm>
            <a:off x="764525" y="30160"/>
            <a:ext cx="34999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s-ES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Learning</a:t>
            </a:r>
            <a:r>
              <a:rPr lang="es-ES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s-ES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Evaluation</a:t>
            </a:r>
            <a:r>
              <a:rPr lang="es-ES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&amp; </a:t>
            </a:r>
            <a:r>
              <a:rPr lang="es-ES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Contribution</a:t>
            </a:r>
            <a:endParaRPr lang="es-ES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CE326C5-C547-E551-E76F-AFFEC8AAD3DC}"/>
              </a:ext>
            </a:extLst>
          </p:cNvPr>
          <p:cNvSpPr txBox="1"/>
          <p:nvPr/>
        </p:nvSpPr>
        <p:spPr>
          <a:xfrm>
            <a:off x="6093475" y="0"/>
            <a:ext cx="30505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s-ES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01</a:t>
            </a:r>
            <a:r>
              <a:rPr lang="es-ES" b="1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s-ES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02 03 04 </a:t>
            </a:r>
            <a:r>
              <a:rPr lang="es-ES" b="1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05</a:t>
            </a:r>
            <a:r>
              <a:rPr lang="es-ES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06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D961A53-E0B8-C4A9-F1CF-95BE81AB6782}"/>
              </a:ext>
            </a:extLst>
          </p:cNvPr>
          <p:cNvSpPr txBox="1"/>
          <p:nvPr/>
        </p:nvSpPr>
        <p:spPr>
          <a:xfrm>
            <a:off x="764525" y="1280058"/>
            <a:ext cx="514449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200" b="1" dirty="0" err="1">
                <a:latin typeface="Didact Gothic" pitchFamily="2" charset="0"/>
              </a:rPr>
              <a:t>Learning</a:t>
            </a:r>
            <a:r>
              <a:rPr lang="es-ES" sz="1200" b="1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evaluation</a:t>
            </a:r>
            <a:endParaRPr lang="es-ES" sz="1200" dirty="0">
              <a:latin typeface="Didact Gothic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 err="1">
                <a:latin typeface="Didact Gothic" pitchFamily="2" charset="0"/>
              </a:rPr>
              <a:t>Decisions</a:t>
            </a:r>
            <a:r>
              <a:rPr lang="es-ES" sz="1200" dirty="0">
                <a:latin typeface="Didact Gothic" pitchFamily="2" charset="0"/>
              </a:rPr>
              <a:t> are </a:t>
            </a:r>
            <a:r>
              <a:rPr lang="es-ES" sz="1200" dirty="0" err="1">
                <a:latin typeface="Didact Gothic" pitchFamily="2" charset="0"/>
              </a:rPr>
              <a:t>assessed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using</a:t>
            </a:r>
            <a:r>
              <a:rPr lang="es-ES" sz="1200" dirty="0">
                <a:latin typeface="Didact Gothic" pitchFamily="2" charset="0"/>
              </a:rPr>
              <a:t> a </a:t>
            </a:r>
            <a:r>
              <a:rPr lang="es-ES" sz="1200" b="1" dirty="0" err="1">
                <a:latin typeface="Didact Gothic" pitchFamily="2" charset="0"/>
              </a:rPr>
              <a:t>structured</a:t>
            </a:r>
            <a:r>
              <a:rPr lang="es-ES" sz="1200" b="1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pedagogical</a:t>
            </a:r>
            <a:r>
              <a:rPr lang="es-ES" sz="1200" b="1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rubric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covering</a:t>
            </a:r>
            <a:r>
              <a:rPr lang="es-ES" sz="1200" dirty="0">
                <a:latin typeface="Didact Gothic" pitchFamily="2" charset="0"/>
              </a:rPr>
              <a:t>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sz="1200" dirty="0" err="1">
                <a:latin typeface="Didact Gothic" pitchFamily="2" charset="0"/>
              </a:rPr>
              <a:t>Strategic</a:t>
            </a:r>
            <a:r>
              <a:rPr lang="es-ES" sz="1200" dirty="0">
                <a:latin typeface="Didact Gothic" pitchFamily="2" charset="0"/>
              </a:rPr>
              <a:t> diagnosis and </a:t>
            </a:r>
            <a:r>
              <a:rPr lang="es-ES" sz="1200" dirty="0" err="1">
                <a:latin typeface="Didact Gothic" pitchFamily="2" charset="0"/>
              </a:rPr>
              <a:t>coherence</a:t>
            </a:r>
            <a:endParaRPr lang="es-ES" sz="1200" dirty="0">
              <a:latin typeface="Didact Gothic" pitchFamily="2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sz="1200" dirty="0">
                <a:latin typeface="Didact Gothic" pitchFamily="2" charset="0"/>
              </a:rPr>
              <a:t>Competitive </a:t>
            </a:r>
            <a:r>
              <a:rPr lang="es-ES" sz="1200" dirty="0" err="1">
                <a:latin typeface="Didact Gothic" pitchFamily="2" charset="0"/>
              </a:rPr>
              <a:t>positioning</a:t>
            </a:r>
            <a:r>
              <a:rPr lang="es-ES" sz="1200" dirty="0">
                <a:latin typeface="Didact Gothic" pitchFamily="2" charset="0"/>
              </a:rPr>
              <a:t> and </a:t>
            </a:r>
            <a:r>
              <a:rPr lang="es-ES" sz="1200" dirty="0" err="1">
                <a:latin typeface="Didact Gothic" pitchFamily="2" charset="0"/>
              </a:rPr>
              <a:t>pricing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logic</a:t>
            </a:r>
            <a:endParaRPr lang="es-ES" sz="1200" dirty="0">
              <a:latin typeface="Didact Gothic" pitchFamily="2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sz="1200" dirty="0" err="1">
                <a:latin typeface="Didact Gothic" pitchFamily="2" charset="0"/>
              </a:rPr>
              <a:t>Negotiation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quality</a:t>
            </a:r>
            <a:endParaRPr lang="es-ES" sz="1200" dirty="0">
              <a:latin typeface="Didact Gothic" pitchFamily="2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sz="1200" dirty="0" err="1">
                <a:latin typeface="Didact Gothic" pitchFamily="2" charset="0"/>
              </a:rPr>
              <a:t>Financial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sustainability</a:t>
            </a:r>
            <a:endParaRPr lang="es-ES" sz="1200" dirty="0">
              <a:latin typeface="Didact Gothic" pitchFamily="2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sz="1200" dirty="0" err="1">
                <a:latin typeface="Didact Gothic" pitchFamily="2" charset="0"/>
              </a:rPr>
              <a:t>Transparency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of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reasoning</a:t>
            </a:r>
            <a:endParaRPr lang="es-ES" sz="1200" dirty="0">
              <a:latin typeface="Didact Gothic" pitchFamily="2" charset="0"/>
            </a:endParaRPr>
          </a:p>
          <a:p>
            <a:pPr marL="457200" lvl="1"/>
            <a:endParaRPr lang="es-ES" sz="1200" dirty="0">
              <a:latin typeface="Didact Gothic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 err="1">
                <a:latin typeface="Didact Gothic" pitchFamily="2" charset="0"/>
              </a:rPr>
              <a:t>Feedback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is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explainable</a:t>
            </a:r>
            <a:r>
              <a:rPr lang="es-ES" sz="1200" b="1" dirty="0">
                <a:latin typeface="Didact Gothic" pitchFamily="2" charset="0"/>
              </a:rPr>
              <a:t> and iterative</a:t>
            </a:r>
            <a:r>
              <a:rPr lang="es-ES" sz="1200" dirty="0">
                <a:latin typeface="Didact Gothic" pitchFamily="2" charset="0"/>
              </a:rPr>
              <a:t>, </a:t>
            </a:r>
            <a:r>
              <a:rPr lang="es-ES" sz="1200" dirty="0" err="1">
                <a:latin typeface="Didact Gothic" pitchFamily="2" charset="0"/>
              </a:rPr>
              <a:t>supporting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learning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over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multiple</a:t>
            </a:r>
            <a:r>
              <a:rPr lang="es-ES" sz="1200" dirty="0">
                <a:latin typeface="Didact Gothic" pitchFamily="2" charset="0"/>
              </a:rPr>
              <a:t> rounds.</a:t>
            </a:r>
          </a:p>
          <a:p>
            <a:endParaRPr lang="es-ES" sz="1200" dirty="0">
              <a:latin typeface="Didact Gothic" pitchFamily="2" charset="0"/>
            </a:endParaRPr>
          </a:p>
          <a:p>
            <a:pPr>
              <a:buNone/>
            </a:pPr>
            <a:r>
              <a:rPr lang="es-ES" sz="1200" b="1" dirty="0" err="1">
                <a:latin typeface="Didact Gothic" pitchFamily="2" charset="0"/>
              </a:rPr>
              <a:t>Academic</a:t>
            </a:r>
            <a:r>
              <a:rPr lang="es-ES" sz="1200" b="1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contribution</a:t>
            </a:r>
            <a:endParaRPr lang="es-ES" sz="1200" dirty="0">
              <a:latin typeface="Didact Gothic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 err="1">
                <a:latin typeface="Didact Gothic" pitchFamily="2" charset="0"/>
              </a:rPr>
              <a:t>Demonstrates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how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agentic</a:t>
            </a:r>
            <a:r>
              <a:rPr lang="es-ES" sz="1200" b="1" dirty="0">
                <a:latin typeface="Didact Gothic" pitchFamily="2" charset="0"/>
              </a:rPr>
              <a:t> AI</a:t>
            </a:r>
            <a:r>
              <a:rPr lang="es-ES" sz="1200" dirty="0">
                <a:latin typeface="Didact Gothic" pitchFamily="2" charset="0"/>
              </a:rPr>
              <a:t> can </a:t>
            </a:r>
            <a:r>
              <a:rPr lang="es-ES" sz="1200" dirty="0" err="1">
                <a:latin typeface="Didact Gothic" pitchFamily="2" charset="0"/>
              </a:rPr>
              <a:t>support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i="1" dirty="0" err="1">
                <a:latin typeface="Didact Gothic" pitchFamily="2" charset="0"/>
              </a:rPr>
              <a:t>learning</a:t>
            </a:r>
            <a:r>
              <a:rPr lang="es-ES" sz="1200" i="1" dirty="0">
                <a:latin typeface="Didact Gothic" pitchFamily="2" charset="0"/>
              </a:rPr>
              <a:t> </a:t>
            </a:r>
            <a:r>
              <a:rPr lang="es-ES" sz="1200" i="1" dirty="0" err="1">
                <a:latin typeface="Didact Gothic" pitchFamily="2" charset="0"/>
              </a:rPr>
              <a:t>by</a:t>
            </a:r>
            <a:r>
              <a:rPr lang="es-ES" sz="1200" i="1" dirty="0">
                <a:latin typeface="Didact Gothic" pitchFamily="2" charset="0"/>
              </a:rPr>
              <a:t> </a:t>
            </a:r>
            <a:r>
              <a:rPr lang="es-ES" sz="1200" i="1" dirty="0" err="1">
                <a:latin typeface="Didact Gothic" pitchFamily="2" charset="0"/>
              </a:rPr>
              <a:t>doing</a:t>
            </a:r>
            <a:r>
              <a:rPr lang="es-ES" sz="1200" dirty="0">
                <a:latin typeface="Didact Gothic" pitchFamily="2" charset="0"/>
              </a:rPr>
              <a:t> in </a:t>
            </a:r>
            <a:r>
              <a:rPr lang="es-ES" sz="1200" dirty="0" err="1">
                <a:latin typeface="Didact Gothic" pitchFamily="2" charset="0"/>
              </a:rPr>
              <a:t>strategy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education</a:t>
            </a:r>
            <a:endParaRPr lang="es-ES" sz="1200" dirty="0">
              <a:latin typeface="Didact Gothic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 err="1">
                <a:latin typeface="Didact Gothic" pitchFamily="2" charset="0"/>
              </a:rPr>
              <a:t>Integrates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multi-agent</a:t>
            </a:r>
            <a:r>
              <a:rPr lang="es-ES" sz="1200" b="1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interaction</a:t>
            </a:r>
            <a:r>
              <a:rPr lang="es-ES" sz="1200" b="1" dirty="0">
                <a:latin typeface="Didact Gothic" pitchFamily="2" charset="0"/>
              </a:rPr>
              <a:t>, </a:t>
            </a:r>
            <a:r>
              <a:rPr lang="es-ES" sz="1200" b="1" dirty="0" err="1">
                <a:latin typeface="Didact Gothic" pitchFamily="2" charset="0"/>
              </a:rPr>
              <a:t>tool-based</a:t>
            </a:r>
            <a:r>
              <a:rPr lang="es-ES" sz="1200" b="1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action</a:t>
            </a:r>
            <a:r>
              <a:rPr lang="es-ES" sz="1200" b="1" dirty="0">
                <a:latin typeface="Didact Gothic" pitchFamily="2" charset="0"/>
              </a:rPr>
              <a:t>, and </a:t>
            </a:r>
            <a:r>
              <a:rPr lang="es-ES" sz="1200" b="1" dirty="0" err="1">
                <a:latin typeface="Didact Gothic" pitchFamily="2" charset="0"/>
              </a:rPr>
              <a:t>explainable</a:t>
            </a:r>
            <a:r>
              <a:rPr lang="es-ES" sz="1200" b="1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evaluation</a:t>
            </a:r>
            <a:endParaRPr lang="es-ES" sz="1200" dirty="0">
              <a:latin typeface="Didact Gothic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 err="1">
                <a:latin typeface="Didact Gothic" pitchFamily="2" charset="0"/>
              </a:rPr>
              <a:t>Provides</a:t>
            </a:r>
            <a:r>
              <a:rPr lang="es-ES" sz="1200" dirty="0">
                <a:latin typeface="Didact Gothic" pitchFamily="2" charset="0"/>
              </a:rPr>
              <a:t> a </a:t>
            </a:r>
            <a:r>
              <a:rPr lang="es-ES" sz="1200" b="1" dirty="0">
                <a:latin typeface="Didact Gothic" pitchFamily="2" charset="0"/>
              </a:rPr>
              <a:t>reproducible </a:t>
            </a:r>
            <a:r>
              <a:rPr lang="es-ES" sz="1200" b="1" dirty="0" err="1">
                <a:latin typeface="Didact Gothic" pitchFamily="2" charset="0"/>
              </a:rPr>
              <a:t>framework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for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teaching</a:t>
            </a:r>
            <a:r>
              <a:rPr lang="es-ES" sz="1200" dirty="0">
                <a:latin typeface="Didact Gothic" pitchFamily="2" charset="0"/>
              </a:rPr>
              <a:t> and </a:t>
            </a:r>
            <a:r>
              <a:rPr lang="es-ES" sz="1200" dirty="0" err="1">
                <a:latin typeface="Didact Gothic" pitchFamily="2" charset="0"/>
              </a:rPr>
              <a:t>assessing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strategic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decision-making</a:t>
            </a:r>
            <a:endParaRPr lang="es-ES" sz="1200" dirty="0">
              <a:latin typeface="Didact Gothic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F5E8374-46D1-D525-DFCB-A93A156E2AA3}"/>
              </a:ext>
            </a:extLst>
          </p:cNvPr>
          <p:cNvSpPr txBox="1"/>
          <p:nvPr/>
        </p:nvSpPr>
        <p:spPr>
          <a:xfrm>
            <a:off x="6489239" y="1313763"/>
            <a:ext cx="18902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200" b="1" dirty="0" err="1">
                <a:latin typeface="Didact Gothic" pitchFamily="2" charset="0"/>
              </a:rPr>
              <a:t>Possible</a:t>
            </a:r>
            <a:r>
              <a:rPr lang="es-ES" sz="1200" b="1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stack</a:t>
            </a:r>
            <a:r>
              <a:rPr lang="es-ES" sz="1200" b="1" dirty="0">
                <a:latin typeface="Didact Gothic" pitchFamily="2" charset="0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s-ES" sz="1200" dirty="0" err="1">
                <a:latin typeface="Didact Gothic" pitchFamily="2" charset="0"/>
              </a:rPr>
              <a:t>LangGraph</a:t>
            </a:r>
            <a:endParaRPr lang="es-ES" sz="1200" dirty="0">
              <a:latin typeface="Didact Gothic" pitchFamily="2" charset="0"/>
            </a:endParaRPr>
          </a:p>
          <a:p>
            <a:pPr marL="171450" indent="-171450">
              <a:buFontTx/>
              <a:buChar char="-"/>
            </a:pPr>
            <a:r>
              <a:rPr lang="es-ES" sz="1200" dirty="0" err="1">
                <a:latin typeface="Didact Gothic" pitchFamily="2" charset="0"/>
              </a:rPr>
              <a:t>LangChain</a:t>
            </a:r>
            <a:endParaRPr lang="es-ES" sz="1200" dirty="0">
              <a:latin typeface="Didact Gothic" pitchFamily="2" charset="0"/>
            </a:endParaRPr>
          </a:p>
          <a:p>
            <a:pPr marL="171450" indent="-171450">
              <a:buFontTx/>
              <a:buChar char="-"/>
            </a:pPr>
            <a:r>
              <a:rPr lang="es-ES" sz="1200" dirty="0" err="1">
                <a:latin typeface="Didact Gothic" pitchFamily="2" charset="0"/>
              </a:rPr>
              <a:t>NumPy</a:t>
            </a:r>
            <a:r>
              <a:rPr lang="es-ES" sz="1200" dirty="0">
                <a:latin typeface="Didact Gothic" pitchFamily="2" charset="0"/>
              </a:rPr>
              <a:t> / Pandas</a:t>
            </a:r>
          </a:p>
          <a:p>
            <a:pPr marL="171450" indent="-171450">
              <a:buFontTx/>
              <a:buChar char="-"/>
            </a:pPr>
            <a:r>
              <a:rPr lang="es-ES" sz="1200" dirty="0" err="1">
                <a:latin typeface="Didact Gothic" pitchFamily="2" charset="0"/>
              </a:rPr>
              <a:t>Node.js</a:t>
            </a:r>
            <a:r>
              <a:rPr lang="es-ES" sz="1200" dirty="0">
                <a:latin typeface="Didact Gothic" pitchFamily="2" charset="0"/>
              </a:rPr>
              <a:t> / </a:t>
            </a:r>
            <a:r>
              <a:rPr lang="es-ES" sz="1200" dirty="0" err="1">
                <a:latin typeface="Didact Gothic" pitchFamily="2" charset="0"/>
              </a:rPr>
              <a:t>Flask</a:t>
            </a:r>
            <a:endParaRPr lang="es-ES" sz="1200" dirty="0">
              <a:latin typeface="Didact Gothic" pitchFamily="2" charset="0"/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A0B91B50-06C5-DF02-E838-E2193EE8F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645" y="2988218"/>
            <a:ext cx="1892830" cy="1527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5312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>
          <a:extLst>
            <a:ext uri="{FF2B5EF4-FFF2-40B4-BE49-F238E27FC236}">
              <a16:creationId xmlns:a16="http://schemas.microsoft.com/office/drawing/2014/main" id="{038AECBB-1A46-733E-3AEE-1B4B6D02A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">
            <a:extLst>
              <a:ext uri="{FF2B5EF4-FFF2-40B4-BE49-F238E27FC236}">
                <a16:creationId xmlns:a16="http://schemas.microsoft.com/office/drawing/2014/main" id="{1CB97985-5840-3C4E-D081-121D37D4B9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i="0" dirty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Learning</a:t>
            </a:r>
            <a:r>
              <a:rPr lang="es-ES" b="0" i="0" dirty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and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System</a:t>
            </a:r>
            <a:r>
              <a:rPr lang="es-ES" b="0" i="0" dirty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s-ES" b="1" i="0" dirty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Evaluation</a:t>
            </a:r>
            <a:endParaRPr lang="es-ES" b="1" i="0" dirty="0">
              <a:solidFill>
                <a:srgbClr val="000000"/>
              </a:solidFill>
              <a:effectLst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Google Shape;116;p21">
            <a:extLst>
              <a:ext uri="{FF2B5EF4-FFF2-40B4-BE49-F238E27FC236}">
                <a16:creationId xmlns:a16="http://schemas.microsoft.com/office/drawing/2014/main" id="{66C372E9-6701-74E0-6CE7-C4BD256C0B4B}"/>
              </a:ext>
            </a:extLst>
          </p:cNvPr>
          <p:cNvSpPr txBox="1">
            <a:spLocks/>
          </p:cNvSpPr>
          <p:nvPr/>
        </p:nvSpPr>
        <p:spPr>
          <a:xfrm>
            <a:off x="166750" y="-133258"/>
            <a:ext cx="734700" cy="5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b="1" dirty="0">
                <a:latin typeface="Poppins" pitchFamily="2" charset="77"/>
                <a:cs typeface="Poppins" pitchFamily="2" charset="77"/>
              </a:rPr>
              <a:t>06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1172DE2-36ED-0F23-475F-CB04C9612785}"/>
              </a:ext>
            </a:extLst>
          </p:cNvPr>
          <p:cNvSpPr txBox="1"/>
          <p:nvPr/>
        </p:nvSpPr>
        <p:spPr>
          <a:xfrm>
            <a:off x="764525" y="30160"/>
            <a:ext cx="34999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Feasibility</a:t>
            </a:r>
            <a:r>
              <a:rPr lang="es-ES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&amp; </a:t>
            </a:r>
            <a:r>
              <a:rPr lang="es-ES" b="1" dirty="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Scope</a:t>
            </a:r>
            <a:r>
              <a:rPr lang="es-ES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1600311-AB8A-13BE-4978-4B1993EA16D2}"/>
              </a:ext>
            </a:extLst>
          </p:cNvPr>
          <p:cNvSpPr txBox="1"/>
          <p:nvPr/>
        </p:nvSpPr>
        <p:spPr>
          <a:xfrm>
            <a:off x="6093475" y="0"/>
            <a:ext cx="30505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/>
            <a:r>
              <a:rPr lang="es-ES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01</a:t>
            </a:r>
            <a:r>
              <a:rPr lang="es-ES" b="1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s-ES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02 03 04 05 </a:t>
            </a:r>
            <a:r>
              <a:rPr lang="es-ES" b="1" spc="600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06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D2FBDE3-AEF3-302B-E9E4-CDC81AE32B60}"/>
              </a:ext>
            </a:extLst>
          </p:cNvPr>
          <p:cNvSpPr txBox="1"/>
          <p:nvPr/>
        </p:nvSpPr>
        <p:spPr>
          <a:xfrm>
            <a:off x="764525" y="1280058"/>
            <a:ext cx="5144497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200" b="1" dirty="0" err="1">
                <a:latin typeface="Didact Gothic" pitchFamily="2" charset="0"/>
              </a:rPr>
              <a:t>Defined</a:t>
            </a:r>
            <a:r>
              <a:rPr lang="es-ES" sz="1200" b="1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scope</a:t>
            </a:r>
            <a:endParaRPr lang="es-ES" sz="1200" dirty="0">
              <a:latin typeface="Didact Gothic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latin typeface="Didact Gothic" pitchFamily="2" charset="0"/>
              </a:rPr>
              <a:t>Focus </a:t>
            </a:r>
            <a:r>
              <a:rPr lang="es-ES" sz="1200" dirty="0" err="1">
                <a:latin typeface="Didact Gothic" pitchFamily="2" charset="0"/>
              </a:rPr>
              <a:t>on</a:t>
            </a:r>
            <a:r>
              <a:rPr lang="es-ES" sz="1200" dirty="0">
                <a:latin typeface="Didact Gothic" pitchFamily="2" charset="0"/>
              </a:rPr>
              <a:t> a </a:t>
            </a:r>
            <a:r>
              <a:rPr lang="es-ES" sz="1200" b="1" dirty="0">
                <a:latin typeface="Didact Gothic" pitchFamily="2" charset="0"/>
              </a:rPr>
              <a:t>single </a:t>
            </a:r>
            <a:r>
              <a:rPr lang="es-ES" sz="1200" b="1" dirty="0" err="1">
                <a:latin typeface="Didact Gothic" pitchFamily="2" charset="0"/>
              </a:rPr>
              <a:t>business</a:t>
            </a:r>
            <a:r>
              <a:rPr lang="es-ES" sz="1200" b="1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domain</a:t>
            </a:r>
            <a:r>
              <a:rPr lang="es-ES" sz="1200" dirty="0">
                <a:latin typeface="Didact Gothic" pitchFamily="2" charset="0"/>
              </a:rPr>
              <a:t> (</a:t>
            </a:r>
            <a:r>
              <a:rPr lang="es-ES" sz="1200" dirty="0" err="1">
                <a:latin typeface="Didact Gothic" pitchFamily="2" charset="0"/>
              </a:rPr>
              <a:t>e.g</a:t>
            </a:r>
            <a:r>
              <a:rPr lang="es-ES" sz="1200" dirty="0">
                <a:latin typeface="Didact Gothic" pitchFamily="2" charset="0"/>
              </a:rPr>
              <a:t>. </a:t>
            </a:r>
            <a:r>
              <a:rPr lang="es-ES" sz="1200" dirty="0" err="1">
                <a:latin typeface="Didact Gothic" pitchFamily="2" charset="0"/>
              </a:rPr>
              <a:t>Retail</a:t>
            </a:r>
            <a:r>
              <a:rPr lang="es-ES" sz="1200" dirty="0">
                <a:latin typeface="Didact Gothic" pitchFamily="2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 err="1">
                <a:latin typeface="Didact Gothic" pitchFamily="2" charset="0"/>
              </a:rPr>
              <a:t>Limited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number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of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agents</a:t>
            </a:r>
            <a:r>
              <a:rPr lang="es-ES" sz="1200" dirty="0">
                <a:latin typeface="Didact Gothic" pitchFamily="2" charset="0"/>
              </a:rPr>
              <a:t>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sz="1200" dirty="0">
                <a:latin typeface="Didact Gothic" pitchFamily="2" charset="0"/>
              </a:rPr>
              <a:t>Instructor / </a:t>
            </a:r>
            <a:r>
              <a:rPr lang="es-ES" sz="1200" dirty="0" err="1">
                <a:latin typeface="Didact Gothic" pitchFamily="2" charset="0"/>
              </a:rPr>
              <a:t>Orchestrator</a:t>
            </a:r>
            <a:endParaRPr lang="es-ES" sz="1200" dirty="0">
              <a:latin typeface="Didact Gothic" pitchFamily="2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sz="1200" dirty="0">
                <a:latin typeface="Didact Gothic" pitchFamily="2" charset="0"/>
              </a:rPr>
              <a:t>Client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sz="1200" dirty="0" err="1">
                <a:latin typeface="Didact Gothic" pitchFamily="2" charset="0"/>
              </a:rPr>
              <a:t>Competitor</a:t>
            </a:r>
            <a:endParaRPr lang="es-ES" sz="1200" dirty="0">
              <a:latin typeface="Didact Gothic" pitchFamily="2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s-ES" sz="1200" dirty="0" err="1">
                <a:latin typeface="Didact Gothic" pitchFamily="2" charset="0"/>
              </a:rPr>
              <a:t>Judge</a:t>
            </a:r>
            <a:r>
              <a:rPr lang="es-ES" sz="1200" dirty="0">
                <a:latin typeface="Didact Gothic" pitchFamily="2" charset="0"/>
              </a:rPr>
              <a:t> / </a:t>
            </a:r>
            <a:r>
              <a:rPr lang="es-ES" sz="1200" dirty="0" err="1">
                <a:latin typeface="Didact Gothic" pitchFamily="2" charset="0"/>
              </a:rPr>
              <a:t>Evaluator</a:t>
            </a:r>
            <a:endParaRPr lang="es-ES" sz="1200" dirty="0">
              <a:latin typeface="Didact Gothic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 err="1">
                <a:latin typeface="Didact Gothic" pitchFamily="2" charset="0"/>
              </a:rPr>
              <a:t>One</a:t>
            </a:r>
            <a:r>
              <a:rPr lang="es-ES" sz="1200" dirty="0">
                <a:latin typeface="Didact Gothic" pitchFamily="2" charset="0"/>
              </a:rPr>
              <a:t> complete </a:t>
            </a:r>
            <a:r>
              <a:rPr lang="es-ES" sz="1200" dirty="0" err="1">
                <a:latin typeface="Didact Gothic" pitchFamily="2" charset="0"/>
              </a:rPr>
              <a:t>end-to-end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simulation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loop</a:t>
            </a:r>
            <a:endParaRPr lang="es-ES" sz="1200" dirty="0">
              <a:latin typeface="Didact Gothic" pitchFamily="2" charset="0"/>
            </a:endParaRPr>
          </a:p>
          <a:p>
            <a:pPr>
              <a:buNone/>
            </a:pPr>
            <a:endParaRPr lang="es-ES" sz="1200" b="1" dirty="0">
              <a:latin typeface="Didact Gothic" pitchFamily="2" charset="0"/>
            </a:endParaRPr>
          </a:p>
          <a:p>
            <a:pPr>
              <a:buNone/>
            </a:pPr>
            <a:r>
              <a:rPr lang="es-ES" sz="1200" b="1" dirty="0" err="1">
                <a:latin typeface="Didact Gothic" pitchFamily="2" charset="0"/>
              </a:rPr>
              <a:t>Technical</a:t>
            </a:r>
            <a:r>
              <a:rPr lang="es-ES" sz="1200" b="1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feasibility</a:t>
            </a:r>
            <a:endParaRPr lang="es-ES" sz="1200" dirty="0">
              <a:latin typeface="Didact Gothic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 err="1">
                <a:latin typeface="Didact Gothic" pitchFamily="2" charset="0"/>
              </a:rPr>
              <a:t>Built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on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existing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b="1" dirty="0" err="1">
                <a:latin typeface="Didact Gothic" pitchFamily="2" charset="0"/>
              </a:rPr>
              <a:t>agentic</a:t>
            </a:r>
            <a:r>
              <a:rPr lang="es-ES" sz="1200" b="1" dirty="0">
                <a:latin typeface="Didact Gothic" pitchFamily="2" charset="0"/>
              </a:rPr>
              <a:t> AI </a:t>
            </a:r>
            <a:r>
              <a:rPr lang="es-ES" sz="1200" b="1" dirty="0" err="1">
                <a:latin typeface="Didact Gothic" pitchFamily="2" charset="0"/>
              </a:rPr>
              <a:t>frameworks</a:t>
            </a:r>
            <a:r>
              <a:rPr lang="es-ES" sz="1200" dirty="0">
                <a:latin typeface="Didact Gothic" pitchFamily="2" charset="0"/>
              </a:rPr>
              <a:t> (</a:t>
            </a:r>
            <a:r>
              <a:rPr lang="es-ES" sz="1200" dirty="0" err="1">
                <a:latin typeface="Didact Gothic" pitchFamily="2" charset="0"/>
              </a:rPr>
              <a:t>LangGraph</a:t>
            </a:r>
            <a:r>
              <a:rPr lang="es-ES" sz="1200" dirty="0">
                <a:latin typeface="Didact Gothic" pitchFamily="2" charset="0"/>
              </a:rPr>
              <a:t>, </a:t>
            </a:r>
            <a:r>
              <a:rPr lang="es-ES" sz="1200" dirty="0" err="1">
                <a:latin typeface="Didact Gothic" pitchFamily="2" charset="0"/>
              </a:rPr>
              <a:t>LangChain</a:t>
            </a:r>
            <a:r>
              <a:rPr lang="es-ES" sz="1200" dirty="0">
                <a:latin typeface="Didact Gothic" pitchFamily="2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 err="1">
                <a:latin typeface="Didact Gothic" pitchFamily="2" charset="0"/>
              </a:rPr>
              <a:t>Lightweight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financial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models</a:t>
            </a:r>
            <a:r>
              <a:rPr lang="es-ES" sz="1200" dirty="0">
                <a:latin typeface="Didact Gothic" pitchFamily="2" charset="0"/>
              </a:rPr>
              <a:t> and </a:t>
            </a:r>
            <a:r>
              <a:rPr lang="es-ES" sz="1200" dirty="0" err="1">
                <a:latin typeface="Didact Gothic" pitchFamily="2" charset="0"/>
              </a:rPr>
              <a:t>stochastic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simulations</a:t>
            </a:r>
            <a:endParaRPr lang="es-ES" sz="1200" dirty="0">
              <a:latin typeface="Didact Gothic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 err="1">
                <a:latin typeface="Didact Gothic" pitchFamily="2" charset="0"/>
              </a:rPr>
              <a:t>Explicit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state</a:t>
            </a:r>
            <a:r>
              <a:rPr lang="es-ES" sz="1200" dirty="0">
                <a:latin typeface="Didact Gothic" pitchFamily="2" charset="0"/>
              </a:rPr>
              <a:t> and </a:t>
            </a:r>
            <a:r>
              <a:rPr lang="es-ES" sz="1200" dirty="0" err="1">
                <a:latin typeface="Didact Gothic" pitchFamily="2" charset="0"/>
              </a:rPr>
              <a:t>memory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design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to</a:t>
            </a:r>
            <a:r>
              <a:rPr lang="es-ES" sz="1200" dirty="0">
                <a:latin typeface="Didact Gothic" pitchFamily="2" charset="0"/>
              </a:rPr>
              <a:t> control </a:t>
            </a:r>
            <a:r>
              <a:rPr lang="es-ES" sz="1200" dirty="0" err="1">
                <a:latin typeface="Didact Gothic" pitchFamily="2" charset="0"/>
              </a:rPr>
              <a:t>complexity</a:t>
            </a:r>
            <a:endParaRPr lang="es-ES" sz="1200" dirty="0">
              <a:latin typeface="Didact Gothic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C15E5DA-3BC9-0E2A-DC7B-6397FEE5532E}"/>
              </a:ext>
            </a:extLst>
          </p:cNvPr>
          <p:cNvSpPr txBox="1"/>
          <p:nvPr/>
        </p:nvSpPr>
        <p:spPr>
          <a:xfrm>
            <a:off x="5534108" y="1313763"/>
            <a:ext cx="33474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200" b="1" dirty="0" err="1">
                <a:latin typeface="Didact Gothic" pitchFamily="2" charset="0"/>
              </a:rPr>
              <a:t>Deliverables</a:t>
            </a:r>
            <a:endParaRPr lang="es-ES" sz="1200" dirty="0">
              <a:latin typeface="Didact Gothic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 err="1">
                <a:latin typeface="Didact Gothic" pitchFamily="2" charset="0"/>
              </a:rPr>
              <a:t>Working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prototype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with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logged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simulations</a:t>
            </a:r>
            <a:endParaRPr lang="es-ES" sz="1200" dirty="0">
              <a:latin typeface="Didact Gothic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 err="1">
                <a:latin typeface="Didact Gothic" pitchFamily="2" charset="0"/>
              </a:rPr>
              <a:t>Evaluation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framework</a:t>
            </a:r>
            <a:r>
              <a:rPr lang="es-ES" sz="1200" dirty="0">
                <a:latin typeface="Didact Gothic" pitchFamily="2" charset="0"/>
              </a:rPr>
              <a:t> and reproducible </a:t>
            </a:r>
            <a:r>
              <a:rPr lang="es-ES" sz="1200" dirty="0" err="1">
                <a:latin typeface="Didact Gothic" pitchFamily="2" charset="0"/>
              </a:rPr>
              <a:t>experiments</a:t>
            </a:r>
            <a:endParaRPr lang="es-ES" sz="1200" dirty="0">
              <a:latin typeface="Didact Gothic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 err="1">
                <a:latin typeface="Didact Gothic" pitchFamily="2" charset="0"/>
              </a:rPr>
              <a:t>Documented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architecture</a:t>
            </a:r>
            <a:r>
              <a:rPr lang="es-ES" sz="1200" dirty="0">
                <a:latin typeface="Didact Gothic" pitchFamily="2" charset="0"/>
              </a:rPr>
              <a:t> and </a:t>
            </a:r>
            <a:r>
              <a:rPr lang="es-ES" sz="1200" dirty="0" err="1">
                <a:latin typeface="Didact Gothic" pitchFamily="2" charset="0"/>
              </a:rPr>
              <a:t>design</a:t>
            </a:r>
            <a:r>
              <a:rPr lang="es-ES" sz="1200" dirty="0">
                <a:latin typeface="Didact Gothic" pitchFamily="2" charset="0"/>
              </a:rPr>
              <a:t> </a:t>
            </a:r>
            <a:r>
              <a:rPr lang="es-ES" sz="1200" dirty="0" err="1">
                <a:latin typeface="Didact Gothic" pitchFamily="2" charset="0"/>
              </a:rPr>
              <a:t>decisions</a:t>
            </a:r>
            <a:endParaRPr lang="es-ES" sz="1200" dirty="0">
              <a:latin typeface="Didact Gothic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686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>
          <a:extLst>
            <a:ext uri="{FF2B5EF4-FFF2-40B4-BE49-F238E27FC236}">
              <a16:creationId xmlns:a16="http://schemas.microsoft.com/office/drawing/2014/main" id="{C0198B81-9F26-F658-B579-C9894FC46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7">
            <a:extLst>
              <a:ext uri="{FF2B5EF4-FFF2-40B4-BE49-F238E27FC236}">
                <a16:creationId xmlns:a16="http://schemas.microsoft.com/office/drawing/2014/main" id="{DC51BD86-4062-E083-27DF-453FB6B7C2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5163" y="7312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735" name="Google Shape;735;p37">
            <a:extLst>
              <a:ext uri="{FF2B5EF4-FFF2-40B4-BE49-F238E27FC236}">
                <a16:creationId xmlns:a16="http://schemas.microsoft.com/office/drawing/2014/main" id="{F843152D-E842-3B21-BCC1-3171398DA8D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17265" y="2042399"/>
            <a:ext cx="6971726" cy="154808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Do you have any questions?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 &gt; ppdm1@st-</a:t>
            </a:r>
            <a:r>
              <a:rPr lang="es-ES" b="1" dirty="0"/>
              <a:t>a</a:t>
            </a:r>
            <a:r>
              <a:rPr lang="en" b="1" dirty="0" err="1"/>
              <a:t>ndrews.ac.uk</a:t>
            </a: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dirty="0" err="1"/>
              <a:t>Thank</a:t>
            </a:r>
            <a:r>
              <a:rPr lang="es-ES" dirty="0"/>
              <a:t> </a:t>
            </a:r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your</a:t>
            </a:r>
            <a:r>
              <a:rPr lang="es-ES" dirty="0"/>
              <a:t> time and </a:t>
            </a:r>
            <a:r>
              <a:rPr lang="es-ES" dirty="0" err="1"/>
              <a:t>consideration</a:t>
            </a:r>
            <a:r>
              <a:rPr lang="es-ES" dirty="0"/>
              <a:t>.</a:t>
            </a:r>
            <a:endParaRPr dirty="0"/>
          </a:p>
        </p:txBody>
      </p:sp>
      <p:cxnSp>
        <p:nvCxnSpPr>
          <p:cNvPr id="737" name="Google Shape;737;p37">
            <a:extLst>
              <a:ext uri="{FF2B5EF4-FFF2-40B4-BE49-F238E27FC236}">
                <a16:creationId xmlns:a16="http://schemas.microsoft.com/office/drawing/2014/main" id="{D3BF0207-E621-1049-A3D8-C8B09F791BBB}"/>
              </a:ext>
            </a:extLst>
          </p:cNvPr>
          <p:cNvCxnSpPr/>
          <p:nvPr/>
        </p:nvCxnSpPr>
        <p:spPr>
          <a:xfrm>
            <a:off x="1431100" y="1838775"/>
            <a:ext cx="5835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984936E6-4A9E-16A2-A2EC-B32B0C80D59A}"/>
              </a:ext>
            </a:extLst>
          </p:cNvPr>
          <p:cNvSpPr/>
          <p:nvPr/>
        </p:nvSpPr>
        <p:spPr>
          <a:xfrm>
            <a:off x="1291905" y="3699545"/>
            <a:ext cx="5251508" cy="4781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2898379"/>
      </p:ext>
    </p:extLst>
  </p:cSld>
  <p:clrMapOvr>
    <a:masterClrMapping/>
  </p:clrMapOvr>
</p:sld>
</file>

<file path=ppt/theme/theme1.xml><?xml version="1.0" encoding="utf-8"?>
<a:theme xmlns:a="http://schemas.openxmlformats.org/drawingml/2006/main" name="Cycle Diagrams Theme for a Business Plan by Slidesgo">
  <a:themeElements>
    <a:clrScheme name="Simple Light">
      <a:dk1>
        <a:srgbClr val="1B1B1B"/>
      </a:dk1>
      <a:lt1>
        <a:srgbClr val="FAFAFA"/>
      </a:lt1>
      <a:dk2>
        <a:srgbClr val="374768"/>
      </a:dk2>
      <a:lt2>
        <a:srgbClr val="43567F"/>
      </a:lt2>
      <a:accent1>
        <a:srgbClr val="9BACCA"/>
      </a:accent1>
      <a:accent2>
        <a:srgbClr val="C2CDE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B1B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868</Words>
  <Application>Microsoft Macintosh PowerPoint</Application>
  <PresentationFormat>Presentación en pantalla (16:9)</PresentationFormat>
  <Paragraphs>131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Arial</vt:lpstr>
      <vt:lpstr>Didact Gothic</vt:lpstr>
      <vt:lpstr>Poppins</vt:lpstr>
      <vt:lpstr>Century Gothic</vt:lpstr>
      <vt:lpstr>Libre Franklin</vt:lpstr>
      <vt:lpstr>Courier New</vt:lpstr>
      <vt:lpstr>Raleway</vt:lpstr>
      <vt:lpstr>Cycle Diagrams Theme for a Business Plan by Slidesgo</vt:lpstr>
      <vt:lpstr>Agentic AI for Business Strategy Learning</vt:lpstr>
      <vt:lpstr>Table of contents</vt:lpstr>
      <vt:lpstr>Current challenge in strategy education</vt:lpstr>
      <vt:lpstr>An agentic AI–based strategy simulation</vt:lpstr>
      <vt:lpstr>An agentic AI–based strategy simulation</vt:lpstr>
      <vt:lpstr>Agent-based learning environment</vt:lpstr>
      <vt:lpstr>Lecturer can tailor the system</vt:lpstr>
      <vt:lpstr>Agents have access to different tools</vt:lpstr>
      <vt:lpstr>Learning and System Evaluation</vt:lpstr>
      <vt:lpstr>Learning and System Evaluation</vt:lpstr>
      <vt:lpstr>Learning and System Evaluation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Paloma Pérez De Madrid Laguna</cp:lastModifiedBy>
  <cp:revision>2</cp:revision>
  <dcterms:modified xsi:type="dcterms:W3CDTF">2026-01-12T19:14:55Z</dcterms:modified>
</cp:coreProperties>
</file>