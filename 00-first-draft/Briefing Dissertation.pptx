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719"/>
  </p:normalViewPr>
  <p:slideViewPr>
    <p:cSldViewPr snapToGrid="0">
      <p:cViewPr>
        <p:scale>
          <a:sx n="108" d="100"/>
          <a:sy n="108" d="100"/>
        </p:scale>
        <p:origin x="58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2CE2B-BF35-9BDD-197D-7C5ACCD66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8FD249-D304-19ED-F35D-4B44CDB0C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5DC398-96FC-6E2A-FB46-35ABDE1F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9879C-D534-3FBD-BAD1-B91EA9D1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D68E2A-4E01-D5A6-3C03-6B71F1D2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897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CB946-30B5-9E7B-6BE4-37EC9976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6BC3DB-9E72-9CA7-86F3-293BA12BC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8F9B1C-E6E9-DB83-9F4A-1DCC9711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B71AF3-7E34-9062-B43F-6B2A744E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5330B4-30BD-C789-BDF9-1E37F7A6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07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54ED4-61F3-345A-5F9E-741111D2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A55400-4962-2CA5-F55F-4ABDFB931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28D149-6C50-EC8A-C01B-4E1DA65B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A68704-53D0-3135-23A4-9584E5786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F82027-2AC1-8956-41EA-1AFA479D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27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CE28B-6B97-41F9-3195-CC3F4587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A38810-17D5-B32C-AC2E-63B9B24B5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A774B8-5B52-057E-B02D-C178A9836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8A8814-B9E6-D78B-863D-D52447F0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94B56D-ED44-575B-7999-242996F3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A19B55-D795-7080-FFFD-8872DCA46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727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26041-0C63-31DE-647D-5F459947B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3E2568-0061-5099-8C18-77403D928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A38799-0E08-4972-0F4A-380802881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712793-F368-6813-3CF7-A4AD737BD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ED9941-EA3F-E36B-B508-21D13693A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AC0E20-B443-C453-8E79-384C6C06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79DE27C-0BFC-7BDC-19E3-2E92F2B6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7190C7-37C1-3117-E5BB-C01F1462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997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41880-1BA7-7614-F31D-EDC5171C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202F05-08A5-797D-B15C-E3660FFB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03917E-E775-C18B-F039-282B4288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167630-7710-51A7-EC96-804FAD325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499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0ABF8D-37CE-4C1C-4F15-40BC2977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71BF099-F2E4-FBFD-4675-7F7AE5582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85159A-CC58-4FA6-2B4C-32381612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29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462C0-7412-9DC9-EB09-BE63ED61B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EF5D6F-05B3-9ACA-D283-E3F082F98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6269EB-53FA-ECA9-6151-043E8A7BA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4F02FC-E978-4DEF-2A60-23E7E36E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AC8DA7-A3AD-8CF3-8458-735ABCDD0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08F6B7-0C9E-3365-1836-4FC28190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549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068C3-E8F4-30FB-31EC-C5CA821B9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F1F5DB3-6EC5-1F26-F6C2-0AC9B2C7C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456ECC-7DD1-2806-C154-5DEBF188B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2DE3A0-D17B-E712-3D52-D63B75FE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FEDBDD-1F05-915C-5436-BF54A812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B214CF-9386-6302-76D1-F1B24C99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616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9B4D8-C281-937E-A663-80BFB699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1CA76B-DEBB-7B6E-841A-A796CC92B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4F350E-AA9C-3019-6A4B-2AFEF3EB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439DC4-F2B8-10C4-A04C-0DFCAFC2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B96BB4-B803-A60A-AB8B-3B9F977D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8625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1CDD7E-B1A7-EB90-146E-B188B7145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800493-5F63-81ED-9A35-B1AB41B78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5C535E-55A2-124D-0F19-3143BDF3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C7BAB1-ACEC-0C6F-4FC2-88A248B32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B917D3-A5DF-6746-7FC0-9C143689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046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BEC566-3A34-6F26-E587-F7C77010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BEB892-6F52-0BD3-40D9-4E863787E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0EB180-E2DD-C2C9-B3BD-61C4C0AA1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15EB1-2A71-D240-8A4A-F0F224102B9D}" type="datetimeFigureOut">
              <a:rPr lang="es-ES" smtClean="0"/>
              <a:t>12/1/26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F557D0-52B8-D298-5E56-EE6C7DA5C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E77EE-3802-D860-E4E3-29B81DCB8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6537C-EB8D-5F49-942B-132E1B4D8D2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2812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27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23618E-C08C-E3E0-E089-2903DC634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 noProof="1">
                <a:solidFill>
                  <a:srgbClr val="FFFFFF"/>
                </a:solidFill>
              </a:rPr>
              <a:t>Agentic AI for Business Strategy Learning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F1A8E6-3A27-87A4-34F6-C047CE85C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noProof="1"/>
              <a:t>Paloma Pérez de Madrid – MSc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3535533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A279D-7C67-3AEE-DE7F-07ACB3FA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Index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DDD7AB-DA4D-B067-DEED-7C5BFA5697DE}"/>
              </a:ext>
            </a:extLst>
          </p:cNvPr>
          <p:cNvSpPr txBox="1"/>
          <p:nvPr/>
        </p:nvSpPr>
        <p:spPr>
          <a:xfrm>
            <a:off x="1810260" y="1828475"/>
            <a:ext cx="1791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Educational</a:t>
            </a:r>
            <a:r>
              <a:rPr lang="es-ES" b="1" dirty="0"/>
              <a:t> </a:t>
            </a:r>
            <a:r>
              <a:rPr lang="es-ES" b="1" dirty="0" err="1"/>
              <a:t>Motivation</a:t>
            </a:r>
            <a:r>
              <a:rPr lang="es-ES" dirty="0"/>
              <a:t> 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FE9B0A8-FBDA-0941-29E4-C1E13AA3F58E}"/>
              </a:ext>
            </a:extLst>
          </p:cNvPr>
          <p:cNvSpPr/>
          <p:nvPr/>
        </p:nvSpPr>
        <p:spPr>
          <a:xfrm>
            <a:off x="948906" y="1845640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01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99B0A33-CCCE-4B0E-523F-1331351F0A4A}"/>
              </a:ext>
            </a:extLst>
          </p:cNvPr>
          <p:cNvSpPr txBox="1"/>
          <p:nvPr/>
        </p:nvSpPr>
        <p:spPr>
          <a:xfrm>
            <a:off x="5359221" y="1850129"/>
            <a:ext cx="1791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Project </a:t>
            </a:r>
            <a:r>
              <a:rPr lang="es-ES" b="1" dirty="0" err="1"/>
              <a:t>Objectives</a:t>
            </a:r>
            <a:endParaRPr lang="es-ES" b="1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33AA072-5A6B-FBEC-1518-46D2734DF68D}"/>
              </a:ext>
            </a:extLst>
          </p:cNvPr>
          <p:cNvSpPr/>
          <p:nvPr/>
        </p:nvSpPr>
        <p:spPr>
          <a:xfrm>
            <a:off x="4522980" y="1867294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02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4B458F7-8006-E30A-0169-82B2FA3AC8FE}"/>
              </a:ext>
            </a:extLst>
          </p:cNvPr>
          <p:cNvSpPr txBox="1"/>
          <p:nvPr/>
        </p:nvSpPr>
        <p:spPr>
          <a:xfrm>
            <a:off x="9451204" y="1828475"/>
            <a:ext cx="1791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Core Idea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Solution</a:t>
            </a:r>
            <a:endParaRPr lang="es-ES" b="1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6BF933C-C5D1-4E76-02FA-5C4ACF73113C}"/>
              </a:ext>
            </a:extLst>
          </p:cNvPr>
          <p:cNvSpPr/>
          <p:nvPr/>
        </p:nvSpPr>
        <p:spPr>
          <a:xfrm>
            <a:off x="8589852" y="1845640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03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5729704-1678-D5C8-E82B-CF8FA8DC55CB}"/>
              </a:ext>
            </a:extLst>
          </p:cNvPr>
          <p:cNvSpPr txBox="1"/>
          <p:nvPr/>
        </p:nvSpPr>
        <p:spPr>
          <a:xfrm>
            <a:off x="1650049" y="3285067"/>
            <a:ext cx="1791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Why</a:t>
            </a:r>
            <a:r>
              <a:rPr lang="es-ES" b="1" dirty="0"/>
              <a:t> </a:t>
            </a:r>
            <a:r>
              <a:rPr lang="es-ES" b="1" dirty="0" err="1"/>
              <a:t>Agentic</a:t>
            </a:r>
            <a:r>
              <a:rPr lang="es-ES" b="1" dirty="0"/>
              <a:t> AI?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20CF675-D163-A636-F335-C80638FF237B}"/>
              </a:ext>
            </a:extLst>
          </p:cNvPr>
          <p:cNvSpPr/>
          <p:nvPr/>
        </p:nvSpPr>
        <p:spPr>
          <a:xfrm>
            <a:off x="948906" y="3302233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04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4116245-E50E-E297-9E25-38748F276A56}"/>
              </a:ext>
            </a:extLst>
          </p:cNvPr>
          <p:cNvSpPr txBox="1"/>
          <p:nvPr/>
        </p:nvSpPr>
        <p:spPr>
          <a:xfrm>
            <a:off x="5172158" y="3239929"/>
            <a:ext cx="2097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Agent</a:t>
            </a:r>
            <a:r>
              <a:rPr lang="es-ES" b="1" dirty="0"/>
              <a:t> </a:t>
            </a:r>
            <a:r>
              <a:rPr lang="es-ES" b="1" dirty="0" err="1"/>
              <a:t>Ecosystem</a:t>
            </a:r>
            <a:r>
              <a:rPr lang="es-ES" b="1" dirty="0"/>
              <a:t> (High-</a:t>
            </a:r>
            <a:r>
              <a:rPr lang="es-ES" b="1" dirty="0" err="1"/>
              <a:t>Level</a:t>
            </a:r>
            <a:r>
              <a:rPr lang="es-ES" b="1" dirty="0"/>
              <a:t> View)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464038E-D49D-A5BF-046C-6B7DEBED2846}"/>
              </a:ext>
            </a:extLst>
          </p:cNvPr>
          <p:cNvSpPr/>
          <p:nvPr/>
        </p:nvSpPr>
        <p:spPr>
          <a:xfrm>
            <a:off x="4471015" y="3257095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05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E921142-8DF5-D9AC-A8F7-A0125B8979BC}"/>
              </a:ext>
            </a:extLst>
          </p:cNvPr>
          <p:cNvSpPr txBox="1"/>
          <p:nvPr/>
        </p:nvSpPr>
        <p:spPr>
          <a:xfrm>
            <a:off x="9304768" y="3215437"/>
            <a:ext cx="2097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Memory</a:t>
            </a:r>
            <a:r>
              <a:rPr lang="es-ES" b="1" dirty="0"/>
              <a:t> and </a:t>
            </a:r>
            <a:r>
              <a:rPr lang="es-ES" b="1" dirty="0" err="1"/>
              <a:t>State</a:t>
            </a:r>
            <a:r>
              <a:rPr lang="es-ES" b="1" dirty="0"/>
              <a:t> Management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1973497-01F4-0F08-D71E-A3F4A79A4686}"/>
              </a:ext>
            </a:extLst>
          </p:cNvPr>
          <p:cNvSpPr/>
          <p:nvPr/>
        </p:nvSpPr>
        <p:spPr>
          <a:xfrm>
            <a:off x="8603626" y="3232603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06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C95FC11-27D2-36A3-2CAC-15E590FD5C1A}"/>
              </a:ext>
            </a:extLst>
          </p:cNvPr>
          <p:cNvSpPr txBox="1"/>
          <p:nvPr/>
        </p:nvSpPr>
        <p:spPr>
          <a:xfrm>
            <a:off x="1650049" y="4469665"/>
            <a:ext cx="1941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Experience</a:t>
            </a:r>
            <a:r>
              <a:rPr lang="es-ES" b="1" dirty="0"/>
              <a:t> Flow (</a:t>
            </a:r>
            <a:r>
              <a:rPr lang="es-ES" b="1" dirty="0" err="1"/>
              <a:t>Agent</a:t>
            </a:r>
            <a:r>
              <a:rPr lang="es-ES" b="1" dirty="0"/>
              <a:t> </a:t>
            </a:r>
            <a:r>
              <a:rPr lang="es-ES" b="1" dirty="0" err="1"/>
              <a:t>Graph</a:t>
            </a:r>
            <a:r>
              <a:rPr lang="es-ES" b="1" dirty="0"/>
              <a:t>)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7F2F149-9793-0A74-CEAD-F3136B9B2BD3}"/>
              </a:ext>
            </a:extLst>
          </p:cNvPr>
          <p:cNvSpPr/>
          <p:nvPr/>
        </p:nvSpPr>
        <p:spPr>
          <a:xfrm>
            <a:off x="948906" y="4486831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07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72A4E5-AEEE-CF92-D08A-6E784F329E98}"/>
              </a:ext>
            </a:extLst>
          </p:cNvPr>
          <p:cNvSpPr txBox="1"/>
          <p:nvPr/>
        </p:nvSpPr>
        <p:spPr>
          <a:xfrm>
            <a:off x="5172158" y="4424527"/>
            <a:ext cx="2097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Action</a:t>
            </a:r>
            <a:r>
              <a:rPr lang="es-ES" b="1" dirty="0"/>
              <a:t> </a:t>
            </a:r>
            <a:r>
              <a:rPr lang="es-ES" b="1" dirty="0" err="1"/>
              <a:t>Through</a:t>
            </a:r>
            <a:r>
              <a:rPr lang="es-ES" b="1" dirty="0"/>
              <a:t> Tools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5E090381-3F45-046D-DFC3-2046A4FCED3A}"/>
              </a:ext>
            </a:extLst>
          </p:cNvPr>
          <p:cNvSpPr/>
          <p:nvPr/>
        </p:nvSpPr>
        <p:spPr>
          <a:xfrm>
            <a:off x="4471015" y="4441693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08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52E2854B-7840-4639-B4E4-5883922DEAC8}"/>
              </a:ext>
            </a:extLst>
          </p:cNvPr>
          <p:cNvSpPr/>
          <p:nvPr/>
        </p:nvSpPr>
        <p:spPr>
          <a:xfrm>
            <a:off x="8603626" y="4417201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09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6891BC5-5C73-4C41-1B36-76CA7EDA1196}"/>
              </a:ext>
            </a:extLst>
          </p:cNvPr>
          <p:cNvSpPr txBox="1"/>
          <p:nvPr/>
        </p:nvSpPr>
        <p:spPr>
          <a:xfrm>
            <a:off x="9304768" y="4382870"/>
            <a:ext cx="2097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Learning</a:t>
            </a:r>
            <a:r>
              <a:rPr lang="es-ES" b="1" dirty="0"/>
              <a:t> </a:t>
            </a:r>
            <a:r>
              <a:rPr lang="es-ES" b="1" dirty="0" err="1"/>
              <a:t>Assessment</a:t>
            </a:r>
            <a:endParaRPr lang="es-ES" b="1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691709B-89DD-E689-8B69-D86CF8F64E6D}"/>
              </a:ext>
            </a:extLst>
          </p:cNvPr>
          <p:cNvSpPr txBox="1"/>
          <p:nvPr/>
        </p:nvSpPr>
        <p:spPr>
          <a:xfrm>
            <a:off x="1650049" y="5665070"/>
            <a:ext cx="1941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Academic</a:t>
            </a:r>
            <a:r>
              <a:rPr lang="es-ES" b="1" dirty="0"/>
              <a:t> </a:t>
            </a:r>
            <a:r>
              <a:rPr lang="es-ES" b="1" dirty="0" err="1"/>
              <a:t>Contribution</a:t>
            </a:r>
            <a:endParaRPr lang="es-ES" b="1" dirty="0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3195FF7A-5D61-7E68-7D08-048933C0A945}"/>
              </a:ext>
            </a:extLst>
          </p:cNvPr>
          <p:cNvSpPr/>
          <p:nvPr/>
        </p:nvSpPr>
        <p:spPr>
          <a:xfrm>
            <a:off x="948906" y="5682236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10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DB2FD83-49CC-7C94-B450-B9F45AD13907}"/>
              </a:ext>
            </a:extLst>
          </p:cNvPr>
          <p:cNvSpPr txBox="1"/>
          <p:nvPr/>
        </p:nvSpPr>
        <p:spPr>
          <a:xfrm>
            <a:off x="5172158" y="5619932"/>
            <a:ext cx="2097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Implementation</a:t>
            </a:r>
            <a:r>
              <a:rPr lang="es-ES" b="1" dirty="0"/>
              <a:t> and </a:t>
            </a:r>
            <a:r>
              <a:rPr lang="es-ES" b="1" dirty="0" err="1"/>
              <a:t>Feasibility</a:t>
            </a:r>
            <a:endParaRPr lang="es-ES" b="1" dirty="0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3A0EFAFA-E79A-B891-8BA9-EF7B2859F3C4}"/>
              </a:ext>
            </a:extLst>
          </p:cNvPr>
          <p:cNvSpPr/>
          <p:nvPr/>
        </p:nvSpPr>
        <p:spPr>
          <a:xfrm>
            <a:off x="4471015" y="5637098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11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C5B0B66B-E46D-95CA-AF75-5E070DE879C3}"/>
              </a:ext>
            </a:extLst>
          </p:cNvPr>
          <p:cNvSpPr/>
          <p:nvPr/>
        </p:nvSpPr>
        <p:spPr>
          <a:xfrm>
            <a:off x="8603626" y="5612606"/>
            <a:ext cx="612000" cy="61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12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2CA30FB-A095-AE5E-5031-A724350171EE}"/>
              </a:ext>
            </a:extLst>
          </p:cNvPr>
          <p:cNvSpPr txBox="1"/>
          <p:nvPr/>
        </p:nvSpPr>
        <p:spPr>
          <a:xfrm>
            <a:off x="9304768" y="5602767"/>
            <a:ext cx="20978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Conclusion</a:t>
            </a:r>
            <a:r>
              <a:rPr lang="es-ES" b="1" dirty="0"/>
              <a:t> and </a:t>
            </a:r>
            <a:r>
              <a:rPr lang="es-ES" b="1" dirty="0" err="1"/>
              <a:t>Supervision</a:t>
            </a:r>
            <a:r>
              <a:rPr lang="es-ES" b="1" dirty="0"/>
              <a:t> </a:t>
            </a:r>
            <a:r>
              <a:rPr lang="es-ES" b="1" dirty="0" err="1"/>
              <a:t>Proposal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409420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588D2-0B4B-4C53-727B-9A3B23B58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Educational Objective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657585-884C-D8F8-0340-1365593803B8}"/>
              </a:ext>
            </a:extLst>
          </p:cNvPr>
          <p:cNvSpPr txBox="1"/>
          <p:nvPr/>
        </p:nvSpPr>
        <p:spPr>
          <a:xfrm>
            <a:off x="838200" y="147376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1"/>
              <a:t>to enable students to practise strategic thinking (industry analysis, competitive advantage, pricing, negotiation, financial planning) within a simulated “business world” that includes clients, banks, competitors, and market events — providing </a:t>
            </a:r>
            <a:r>
              <a:rPr lang="en-GB" i="1" noProof="1"/>
              <a:t>feedback</a:t>
            </a:r>
            <a:r>
              <a:rPr lang="en-GB" noProof="1"/>
              <a:t> and reasoning traceability.</a:t>
            </a:r>
          </a:p>
        </p:txBody>
      </p:sp>
    </p:spTree>
    <p:extLst>
      <p:ext uri="{BB962C8B-B14F-4D97-AF65-F5344CB8AC3E}">
        <p14:creationId xmlns:p14="http://schemas.microsoft.com/office/powerpoint/2010/main" val="2152844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49F5E-2FD0-0905-12FC-06D50541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CDE69-D550-5A2F-FB01-73098ACEF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1) Agent Roles (and Rationale)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B761DC-1FEC-E704-B64E-556254F52A6E}"/>
              </a:ext>
            </a:extLst>
          </p:cNvPr>
          <p:cNvSpPr txBox="1"/>
          <p:nvPr/>
        </p:nvSpPr>
        <p:spPr>
          <a:xfrm>
            <a:off x="838200" y="1473763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Orchestrator / Instructor</a:t>
            </a:r>
            <a:r>
              <a:rPr lang="en-GB" noProof="1"/>
              <a:t> (pedagogical facilitator)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Defines learning objectives, adjusts difficulty, and triggers formative assessments.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Employs </a:t>
            </a:r>
            <a:r>
              <a:rPr lang="en-GB" i="1" noProof="1"/>
              <a:t>self-reflection</a:t>
            </a:r>
            <a:r>
              <a:rPr lang="en-GB" noProof="1"/>
              <a:t> to adapt activities and mitigate hallucinations. (Reflexion / Self-Refine)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Case Designer</a:t>
            </a:r>
            <a:endParaRPr lang="en-GB" noProof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Generates the base scenario (sector, cost structure, market shocks).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Uses </a:t>
            </a:r>
            <a:r>
              <a:rPr lang="en-GB" i="1" noProof="1"/>
              <a:t>Tree/Buffer of Thoughts</a:t>
            </a:r>
            <a:r>
              <a:rPr lang="en-GB" noProof="1"/>
              <a:t> to diversify scenarios and reduce bias.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Client(s)</a:t>
            </a:r>
            <a:endParaRPr lang="en-GB" noProof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Role-play agents with specific briefs and goals (e.g., RFQ, price/time sensitivity). Based on CAMEL and role-playing frameworks.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Competitor(s)</a:t>
            </a:r>
            <a:endParaRPr lang="en-GB" noProof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Adopt strategic postures (cost leadership / differentiation) and react to the student’s and market’s moves.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E3CCD58-87F5-D093-8D8D-B083607B4D38}"/>
              </a:ext>
            </a:extLst>
          </p:cNvPr>
          <p:cNvSpPr txBox="1"/>
          <p:nvPr/>
        </p:nvSpPr>
        <p:spPr>
          <a:xfrm>
            <a:off x="6831724" y="1179302"/>
            <a:ext cx="490833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Bank / Finance Agent</a:t>
            </a:r>
            <a:endParaRPr lang="en-GB" noProof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Grants credit lines, evaluates risk, applies </a:t>
            </a:r>
            <a:r>
              <a:rPr lang="en-GB" i="1" noProof="1"/>
              <a:t>covenants</a:t>
            </a:r>
            <a:r>
              <a:rPr lang="en-GB" noProof="1"/>
              <a:t>; calculates pro-forma financial statements.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Market / Regulator</a:t>
            </a:r>
            <a:endParaRPr lang="en-GB" noProof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Introduces stochastic events (exchange rate shifts, demand shocks, regulatory changes) to force strategic adaptation.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Critic / Evaluator</a:t>
            </a:r>
            <a:endParaRPr lang="en-GB" noProof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Executes </a:t>
            </a:r>
            <a:r>
              <a:rPr lang="en-GB" i="1" noProof="1"/>
              <a:t>multi-agent debate</a:t>
            </a:r>
            <a:r>
              <a:rPr lang="en-GB" noProof="1"/>
              <a:t> (creator–critic–judge) over student decisions and produces rubrics. (Constitutional AI / Debate / Judge)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Tool-Use Assistant</a:t>
            </a:r>
            <a:endParaRPr lang="en-GB" noProof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Abstracts RAG, financial calculator, and simulation tools (ReAct / Toolformer-like).</a:t>
            </a:r>
          </a:p>
        </p:txBody>
      </p:sp>
    </p:spTree>
    <p:extLst>
      <p:ext uri="{BB962C8B-B14F-4D97-AF65-F5344CB8AC3E}">
        <p14:creationId xmlns:p14="http://schemas.microsoft.com/office/powerpoint/2010/main" val="82048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AF28-D40C-97BE-07FE-C6FDFB42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15A3-196E-B78F-DA6B-B1AC35C5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1) Agent Roles (and Rationale)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500594-3C23-2476-2543-A15E1A8C05C8}"/>
              </a:ext>
            </a:extLst>
          </p:cNvPr>
          <p:cNvSpPr txBox="1"/>
          <p:nvPr/>
        </p:nvSpPr>
        <p:spPr>
          <a:xfrm>
            <a:off x="838200" y="147376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noProof="1"/>
          </a:p>
          <a:p>
            <a:r>
              <a:rPr lang="en-GB" b="1" noProof="1"/>
              <a:t>Justification:</a:t>
            </a:r>
            <a:r>
              <a:rPr lang="en-GB" noProof="1"/>
              <a:t> combining step-by-step reasoning (CoT/ToT), action via tools (ReAct/RAG), and </a:t>
            </a:r>
            <a:r>
              <a:rPr lang="en-GB" i="1" noProof="1"/>
              <a:t>interaction</a:t>
            </a:r>
            <a:r>
              <a:rPr lang="en-GB" noProof="1"/>
              <a:t> among multiple agents (CAMEL, debate) aligns perfectly with the “reason–act–interact” taxonomy of agentic intelligence and supports emergent behaviour through diversity of roles and cognitive processes.</a:t>
            </a:r>
          </a:p>
        </p:txBody>
      </p:sp>
    </p:spTree>
    <p:extLst>
      <p:ext uri="{BB962C8B-B14F-4D97-AF65-F5344CB8AC3E}">
        <p14:creationId xmlns:p14="http://schemas.microsoft.com/office/powerpoint/2010/main" val="274795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C0D3-C116-3F94-CF4C-CABCB6D9C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DA7F71-FB80-8C35-51B1-6C1F11A21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2) Memory and State (inspired by “Generative Agents”)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AE0A1B6-247E-4607-2211-DC02623B0619}"/>
              </a:ext>
            </a:extLst>
          </p:cNvPr>
          <p:cNvSpPr txBox="1"/>
          <p:nvPr/>
        </p:nvSpPr>
        <p:spPr>
          <a:xfrm>
            <a:off x="838199" y="1690688"/>
            <a:ext cx="103868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Episodic memory:</a:t>
            </a:r>
            <a:r>
              <a:rPr lang="en-GB" noProof="1"/>
              <a:t> stores simulation turns, student decisions, market reactions.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Semantic memory:</a:t>
            </a:r>
            <a:r>
              <a:rPr lang="en-GB" noProof="1"/>
              <a:t> captures learned concepts (e.g., “elasticity &lt; 1 → price increase lowers revenue”) and </a:t>
            </a:r>
            <a:r>
              <a:rPr lang="en-GB" i="1" noProof="1"/>
              <a:t>playbooks</a:t>
            </a:r>
            <a:r>
              <a:rPr lang="en-GB" noProof="1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Social memory:</a:t>
            </a:r>
            <a:r>
              <a:rPr lang="en-GB" noProof="1"/>
              <a:t> reflects perceptions between agents (e.g., client trust improves after discounts).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Reflection buffer:</a:t>
            </a:r>
            <a:r>
              <a:rPr lang="en-GB" noProof="1"/>
              <a:t> agents’ internal notes enabling metacognitive adaptation.</a:t>
            </a:r>
          </a:p>
          <a:p>
            <a:r>
              <a:rPr lang="en-GB" noProof="1"/>
              <a:t>This mirrors social simulacra experiments with LLMs endowed with personality and memory.</a:t>
            </a:r>
          </a:p>
        </p:txBody>
      </p:sp>
    </p:spTree>
    <p:extLst>
      <p:ext uri="{BB962C8B-B14F-4D97-AF65-F5344CB8AC3E}">
        <p14:creationId xmlns:p14="http://schemas.microsoft.com/office/powerpoint/2010/main" val="2984762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FEB75-EA4F-49C2-556D-873EDAE4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8012A-5366-6253-5590-34840600D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3) Tools (Action Layers)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2712EC-6CF7-1561-494F-CA34DF29A545}"/>
              </a:ext>
            </a:extLst>
          </p:cNvPr>
          <p:cNvSpPr txBox="1"/>
          <p:nvPr/>
        </p:nvSpPr>
        <p:spPr>
          <a:xfrm>
            <a:off x="838199" y="1690688"/>
            <a:ext cx="103868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Academic / Business RAG:</a:t>
            </a:r>
            <a:r>
              <a:rPr lang="en-GB" noProof="1"/>
              <a:t> local corpus (textbooks, HBR cases, lecture notes). The Orchestrator decides when to retrieve versus reason, minimising hallucination.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Financial calculator:</a:t>
            </a:r>
            <a:r>
              <a:rPr lang="en-GB" noProof="1"/>
              <a:t> NPV/IRR, break-even, sensitivity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Demand and P&amp;L simulator:</a:t>
            </a:r>
            <a:r>
              <a:rPr lang="en-GB" noProof="1"/>
              <a:t> simple equations with controlled noise.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Negotiation module:</a:t>
            </a:r>
            <a:r>
              <a:rPr lang="en-GB" noProof="1"/>
              <a:t> </a:t>
            </a:r>
            <a:r>
              <a:rPr lang="en-GB" i="1" noProof="1"/>
              <a:t>offer–counter–rationale</a:t>
            </a:r>
            <a:r>
              <a:rPr lang="en-GB" noProof="1"/>
              <a:t> structure for client/competitor; Judge scores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ReAct planner:</a:t>
            </a:r>
            <a:r>
              <a:rPr lang="en-GB" noProof="1"/>
              <a:t> orchestrates tool calls and observes outcomes (plan–act–observe).</a:t>
            </a:r>
          </a:p>
        </p:txBody>
      </p:sp>
    </p:spTree>
    <p:extLst>
      <p:ext uri="{BB962C8B-B14F-4D97-AF65-F5344CB8AC3E}">
        <p14:creationId xmlns:p14="http://schemas.microsoft.com/office/powerpoint/2010/main" val="2984508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E492E-3DCC-203C-288B-ADAD8F40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85C26-BC62-8C79-5687-8BDE94D7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4) Graph of the learning experience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949409-95DE-821A-9690-E3025218E1B8}"/>
              </a:ext>
            </a:extLst>
          </p:cNvPr>
          <p:cNvSpPr txBox="1"/>
          <p:nvPr/>
        </p:nvSpPr>
        <p:spPr>
          <a:xfrm>
            <a:off x="838200" y="1613094"/>
            <a:ext cx="1038684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noProof="1"/>
              <a:t>[Student]</a:t>
            </a:r>
          </a:p>
          <a:p>
            <a:r>
              <a:rPr lang="en-GB" sz="1400" b="1" noProof="1"/>
              <a:t>   │</a:t>
            </a:r>
          </a:p>
          <a:p>
            <a:r>
              <a:rPr lang="en-GB" sz="1400" b="1" noProof="1"/>
              <a:t>   ▼</a:t>
            </a:r>
          </a:p>
          <a:p>
            <a:r>
              <a:rPr lang="en-GB" sz="1400" b="1" noProof="1"/>
              <a:t>[Orchestrator / Instructor]</a:t>
            </a:r>
          </a:p>
          <a:p>
            <a:r>
              <a:rPr lang="en-GB" sz="1400" b="1" noProof="1"/>
              <a:t>   │  (define objectives, difficulty, rubric)</a:t>
            </a:r>
          </a:p>
          <a:p>
            <a:r>
              <a:rPr lang="en-GB" sz="1400" b="1" noProof="1"/>
              <a:t>   ├──► [Case Designer] ──► (Initial case + data) ─┐</a:t>
            </a:r>
          </a:p>
          <a:p>
            <a:r>
              <a:rPr lang="en-GB" sz="1400" b="1" noProof="1"/>
              <a:t>   │                                              │</a:t>
            </a:r>
          </a:p>
          <a:p>
            <a:r>
              <a:rPr lang="en-GB" sz="1400" b="1" noProof="1"/>
              <a:t>   ├──► [Tool Agent] ◄─┬─► [RAG]</a:t>
            </a:r>
          </a:p>
          <a:p>
            <a:r>
              <a:rPr lang="en-GB" sz="1400" b="1" noProof="1"/>
              <a:t>   │                    ├─► [Financial Calc]</a:t>
            </a:r>
          </a:p>
          <a:p>
            <a:r>
              <a:rPr lang="en-GB" sz="1400" b="1" noProof="1"/>
              <a:t>   │                    └─► [P&amp;L Simulator]</a:t>
            </a:r>
          </a:p>
          <a:p>
            <a:r>
              <a:rPr lang="en-GB" sz="1400" b="1" noProof="1"/>
              <a:t>   │</a:t>
            </a:r>
          </a:p>
          <a:p>
            <a:r>
              <a:rPr lang="en-GB" sz="1400" b="1" noProof="1"/>
              <a:t>   ├──► [Client] ◄──────────┐</a:t>
            </a:r>
          </a:p>
          <a:p>
            <a:r>
              <a:rPr lang="en-GB" sz="1400" b="1" noProof="1"/>
              <a:t>   ├──► [Competitor] ◄──────┼─── (CAMEL / Debate Interactions)</a:t>
            </a:r>
          </a:p>
          <a:p>
            <a:r>
              <a:rPr lang="en-GB" sz="1400" b="1" noProof="1"/>
              <a:t>   └──► [Bank / Finance] ◄──┘</a:t>
            </a:r>
          </a:p>
          <a:p>
            <a:r>
              <a:rPr lang="en-GB" sz="1400" b="1" noProof="1"/>
              <a:t>        │</a:t>
            </a:r>
          </a:p>
          <a:p>
            <a:r>
              <a:rPr lang="en-GB" sz="1400" b="1" noProof="1"/>
              <a:t>        ▼</a:t>
            </a:r>
          </a:p>
          <a:p>
            <a:r>
              <a:rPr lang="en-GB" sz="1400" b="1" noProof="1"/>
              <a:t>   [Judge / Evaluator] ──► (Feedback + scoring + rationale)</a:t>
            </a:r>
          </a:p>
          <a:p>
            <a:r>
              <a:rPr lang="en-GB" sz="1400" b="1" noProof="1"/>
              <a:t>        │</a:t>
            </a:r>
          </a:p>
          <a:p>
            <a:r>
              <a:rPr lang="en-GB" sz="1400" b="1" noProof="1"/>
              <a:t>        ▼</a:t>
            </a:r>
          </a:p>
          <a:p>
            <a:r>
              <a:rPr lang="en-GB" sz="1400" b="1" noProof="1"/>
              <a:t>   [Memory / Episodes] ──► [Next Round / Difficulty Escalation]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09F7C6-B0FC-C55F-1A7B-F72D6F33E4B5}"/>
              </a:ext>
            </a:extLst>
          </p:cNvPr>
          <p:cNvSpPr txBox="1"/>
          <p:nvPr/>
        </p:nvSpPr>
        <p:spPr>
          <a:xfrm>
            <a:off x="7725103" y="1613094"/>
            <a:ext cx="41726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noProof="1"/>
          </a:p>
          <a:p>
            <a:r>
              <a:rPr lang="en-GB" noProof="1"/>
              <a:t>LangGraph nodes: instructor, case_designer, tool_agent, client, competitor, bank, judge, memory.</a:t>
            </a:r>
          </a:p>
          <a:p>
            <a:endParaRPr lang="en-GB" noProof="1"/>
          </a:p>
          <a:p>
            <a:r>
              <a:rPr lang="en-GB" noProof="1"/>
              <a:t>Edges: conditional transitions (e.g., if liquidity &lt; threshold → branch “negotiate loan”).</a:t>
            </a:r>
          </a:p>
          <a:p>
            <a:endParaRPr lang="en-GB" noProof="1"/>
          </a:p>
          <a:p>
            <a:r>
              <a:rPr lang="en-GB" noProof="1"/>
              <a:t>Checkpoints: after each negotiation, the judge runs self-consistency or debate to assess quality.</a:t>
            </a:r>
          </a:p>
        </p:txBody>
      </p:sp>
    </p:spTree>
    <p:extLst>
      <p:ext uri="{BB962C8B-B14F-4D97-AF65-F5344CB8AC3E}">
        <p14:creationId xmlns:p14="http://schemas.microsoft.com/office/powerpoint/2010/main" val="4275940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97C0-19DB-B1B2-A3D0-05E5BB9E4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C46D8-59C0-612E-4D41-9230B6A8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5) Technical Skeleton (Python + LangGraph/LangChain)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6759F4-0599-8246-2C1B-2CEE5E2D32C4}"/>
              </a:ext>
            </a:extLst>
          </p:cNvPr>
          <p:cNvSpPr txBox="1"/>
          <p:nvPr/>
        </p:nvSpPr>
        <p:spPr>
          <a:xfrm>
            <a:off x="838200" y="1613094"/>
            <a:ext cx="1038684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noProof="1"/>
              <a:t>Packages:</a:t>
            </a:r>
            <a:r>
              <a:rPr lang="en-GB" noProof="1"/>
              <a:t> langchain, langgraph, pydantic, fastapi, uvicorn, duckdb/sqlite (for memory &amp; traces), pandas (P&amp;L), docker.</a:t>
            </a:r>
          </a:p>
          <a:p>
            <a:pPr>
              <a:buNone/>
            </a:pPr>
            <a:r>
              <a:rPr lang="en-GB" b="1" noProof="1"/>
              <a:t>Pydantic types:</a:t>
            </a:r>
            <a:r>
              <a:rPr lang="en-GB" noProof="1"/>
              <a:t> Case, MarketState, Decision, Offer, Financials, RubricScore.</a:t>
            </a:r>
          </a:p>
          <a:p>
            <a:pPr>
              <a:buNone/>
            </a:pPr>
            <a:r>
              <a:rPr lang="en-GB" b="1" noProof="1"/>
              <a:t>Graph structure: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State: accumulates market_state, student_actions, memories, tool_outputs.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Nodes:</a:t>
            </a:r>
            <a:endParaRPr lang="en-GB" noProof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instructor(state): defines goals and rubrics → </a:t>
            </a:r>
            <a:r>
              <a:rPr lang="en-GB" i="1" noProof="1"/>
              <a:t>prompt templates</a:t>
            </a:r>
            <a:r>
              <a:rPr lang="en-GB" noProof="1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case_designer(state): generates cases with </a:t>
            </a:r>
            <a:r>
              <a:rPr lang="en-GB" i="1" noProof="1"/>
              <a:t>ToT/BoT</a:t>
            </a:r>
            <a:r>
              <a:rPr lang="en-GB" noProof="1"/>
              <a:t> and stores </a:t>
            </a:r>
            <a:r>
              <a:rPr lang="en-GB" i="1" noProof="1"/>
              <a:t>ground truth</a:t>
            </a:r>
            <a:r>
              <a:rPr lang="en-GB" noProof="1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client/competitor/bank(state): CAMEL-style </a:t>
            </a:r>
            <a:r>
              <a:rPr lang="en-GB" i="1" noProof="1"/>
              <a:t>role cards</a:t>
            </a:r>
            <a:r>
              <a:rPr lang="en-GB" noProof="1"/>
              <a:t> + ReAct for decision-making.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tool_agent(state): plans calls to rag(), finance(), simulate().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judge(state): two-agent debate + judge; outputs RubricScore and rationale.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memory(state): consolidates episodes (as in Generative Agents).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Edges:</a:t>
            </a:r>
            <a:r>
              <a:rPr lang="en-GB" noProof="1"/>
              <a:t> instructor -&gt; case_designer -&gt; [client|competitor|bank] &lt;-&gt; student -&gt; judge -&gt; memory -&gt; loop.</a:t>
            </a:r>
          </a:p>
          <a:p>
            <a:pPr>
              <a:buNone/>
            </a:pPr>
            <a:r>
              <a:rPr lang="en-GB" b="1" noProof="1"/>
              <a:t>MVP implementation: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CLI or Streamlit app with one case (e.g., </a:t>
            </a:r>
            <a:r>
              <a:rPr lang="en-GB" i="1" noProof="1"/>
              <a:t>B2B SaaS</a:t>
            </a:r>
            <a:r>
              <a:rPr lang="en-GB" noProof="1"/>
              <a:t>), one client, one competitor, one bank.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SQLite persistence for episodes, scores, and replays.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Dockerfile + docker-compose (API + frontend).</a:t>
            </a:r>
          </a:p>
        </p:txBody>
      </p:sp>
    </p:spTree>
    <p:extLst>
      <p:ext uri="{BB962C8B-B14F-4D97-AF65-F5344CB8AC3E}">
        <p14:creationId xmlns:p14="http://schemas.microsoft.com/office/powerpoint/2010/main" val="2605774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7478A-957D-8E96-8EA1-DA8EF17B3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D5F5D-F127-DC82-9D8F-BA5AB799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6) Learning and System Evaluation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3613C2-C94B-762A-0D40-A39DE8975DB6}"/>
              </a:ext>
            </a:extLst>
          </p:cNvPr>
          <p:cNvSpPr txBox="1"/>
          <p:nvPr/>
        </p:nvSpPr>
        <p:spPr>
          <a:xfrm>
            <a:off x="838200" y="1613094"/>
            <a:ext cx="1038684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noProof="1"/>
              <a:t>Pedagogical rubric</a:t>
            </a:r>
            <a:r>
              <a:rPr lang="en-GB" noProof="1"/>
              <a:t> (by the </a:t>
            </a:r>
            <a:r>
              <a:rPr lang="en-GB" i="1" noProof="1"/>
              <a:t>judge</a:t>
            </a:r>
            <a:r>
              <a:rPr lang="en-GB" noProof="1"/>
              <a:t>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Strategic diagnosis (Five Forces, value map).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Coherence of positioning vs. cost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Negotiation quality (BATNA / anchoring / bundling).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Financial health (liquidity, margin, runway).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Traceability of reasoning (“explain your why”).</a:t>
            </a:r>
            <a:br>
              <a:rPr lang="en-GB" noProof="1"/>
            </a:br>
            <a:r>
              <a:rPr lang="en-GB" noProof="1"/>
              <a:t>Uses multi-agent </a:t>
            </a:r>
            <a:r>
              <a:rPr lang="en-GB" i="1" noProof="1"/>
              <a:t>debate/judge</a:t>
            </a:r>
            <a:r>
              <a:rPr lang="en-GB" noProof="1"/>
              <a:t> to reinforce objectivity.</a:t>
            </a:r>
          </a:p>
          <a:p>
            <a:pPr>
              <a:buNone/>
            </a:pPr>
            <a:r>
              <a:rPr lang="en-GB" b="1" noProof="1"/>
              <a:t>Agentic metrics</a:t>
            </a:r>
            <a:r>
              <a:rPr lang="en-GB" noProof="1"/>
              <a:t> (from the literature) to evaluate emergent behaviour: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Coordination, cooperation, reasoning, and controlled deception in economic games (MAgIC / GAMA-Bench).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A/B testing with and without </a:t>
            </a:r>
            <a:r>
              <a:rPr lang="en-GB" i="1" noProof="1"/>
              <a:t>reflection/RAG</a:t>
            </a:r>
            <a:r>
              <a:rPr lang="en-GB" noProof="1"/>
              <a:t> to measure error reduction.</a:t>
            </a:r>
          </a:p>
          <a:p>
            <a:pPr>
              <a:buNone/>
            </a:pPr>
            <a:r>
              <a:rPr lang="en-GB" b="1" noProof="1"/>
              <a:t>Safety and reliability:</a:t>
            </a:r>
            <a:endParaRPr lang="en-GB" noProof="1"/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“Plan–act–observe” loop with a verification layer (judge blocks illogical actions).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noProof="1"/>
              <a:t>RAG restricted to curated course corpus to prevent </a:t>
            </a:r>
            <a:r>
              <a:rPr lang="en-GB" i="1" noProof="1"/>
              <a:t>data leakage</a:t>
            </a:r>
            <a:r>
              <a:rPr lang="en-GB" noProof="1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8651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8A5CE-B6F9-D5BD-1CA6-05F7D1B81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27B98-79C5-31BC-9EAC-40DE1E42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Briefing for Supervisors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0E813BD-70A1-2803-3923-EF09C13A8419}"/>
              </a:ext>
            </a:extLst>
          </p:cNvPr>
          <p:cNvSpPr txBox="1"/>
          <p:nvPr/>
        </p:nvSpPr>
        <p:spPr>
          <a:xfrm>
            <a:off x="838200" y="1613094"/>
            <a:ext cx="1038684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noProof="1"/>
              <a:t>Title:</a:t>
            </a:r>
            <a:r>
              <a:rPr lang="en-GB" noProof="1"/>
              <a:t> </a:t>
            </a:r>
            <a:r>
              <a:rPr lang="en-GB" i="1" noProof="1"/>
              <a:t>“Business Strategy Simulator using Agentic AI (Reason–Act–Interact)”</a:t>
            </a:r>
            <a:endParaRPr lang="en-GB" noProof="1"/>
          </a:p>
          <a:p>
            <a:pPr>
              <a:buNone/>
            </a:pPr>
            <a:r>
              <a:rPr lang="en-GB" b="1" noProof="1"/>
              <a:t>Educational problem:</a:t>
            </a:r>
            <a:r>
              <a:rPr lang="en-GB" noProof="1"/>
              <a:t> business students often read cases but rarely practise sequential decision-making or multi-actor negotiation.</a:t>
            </a:r>
          </a:p>
          <a:p>
            <a:pPr>
              <a:buNone/>
            </a:pPr>
            <a:r>
              <a:rPr lang="en-GB" b="1" noProof="1"/>
              <a:t>Solution:</a:t>
            </a:r>
            <a:r>
              <a:rPr lang="en-GB" noProof="1"/>
              <a:t> an ecosystem of LLM-based agents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Reason</a:t>
            </a:r>
            <a:r>
              <a:rPr lang="en-GB" noProof="1"/>
              <a:t> (CoT / ToT / Reflexion) to plan and inspect their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Act</a:t>
            </a:r>
            <a:r>
              <a:rPr lang="en-GB" noProof="1"/>
              <a:t> using tools (ReAct + RAG + financial and simulation utilities).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noProof="1"/>
              <a:t>Interact</a:t>
            </a:r>
            <a:r>
              <a:rPr lang="en-GB" noProof="1"/>
              <a:t> in role-based dialogues (client, competitor, bank) through CAMEL and debate, generating actionable feedback and rubric-based evaluations.</a:t>
            </a:r>
          </a:p>
          <a:p>
            <a:pPr>
              <a:buNone/>
            </a:pPr>
            <a:r>
              <a:rPr lang="en-GB" b="1" noProof="1"/>
              <a:t>Technical contribution:</a:t>
            </a:r>
            <a:r>
              <a:rPr lang="en-GB" noProof="1"/>
              <a:t> LangGraph pipeline controlling data flow, episodic/semantic memory, and evaluation checkpoints.</a:t>
            </a:r>
          </a:p>
          <a:p>
            <a:pPr>
              <a:buNone/>
            </a:pPr>
            <a:r>
              <a:rPr lang="en-GB" b="1" noProof="1"/>
              <a:t>Expected outcomes:</a:t>
            </a:r>
            <a:r>
              <a:rPr lang="en-GB" noProof="1"/>
              <a:t> improved performance on strategic and negotiation rubrics; traceable reasoning paths; ability to </a:t>
            </a:r>
            <a:r>
              <a:rPr lang="en-GB" i="1" noProof="1"/>
              <a:t>replay</a:t>
            </a:r>
            <a:r>
              <a:rPr lang="en-GB" noProof="1"/>
              <a:t> and adapt cases with market perturbations.</a:t>
            </a:r>
          </a:p>
          <a:p>
            <a:r>
              <a:rPr lang="en-GB" b="1" noProof="1"/>
              <a:t>Risks / mitigations:</a:t>
            </a:r>
            <a:r>
              <a:rPr lang="en-GB" noProof="1"/>
              <a:t> hallucination (mitigated via RAG + judge), overfitting to prompts (diversified ToT cases), bias (cross-agent reviews and transparent rubrics).</a:t>
            </a:r>
          </a:p>
        </p:txBody>
      </p:sp>
    </p:spTree>
    <p:extLst>
      <p:ext uri="{BB962C8B-B14F-4D97-AF65-F5344CB8AC3E}">
        <p14:creationId xmlns:p14="http://schemas.microsoft.com/office/powerpoint/2010/main" val="37818993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1308</Words>
  <Application>Microsoft Macintosh PowerPoint</Application>
  <PresentationFormat>Panorámica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Agentic AI for Business Strategy Learning</vt:lpstr>
      <vt:lpstr>Index</vt:lpstr>
      <vt:lpstr>Educational Objective</vt:lpstr>
      <vt:lpstr>1) Agent Roles (and Rationale)</vt:lpstr>
      <vt:lpstr>1) Agent Roles (and Rationale)</vt:lpstr>
      <vt:lpstr>2) Memory and State (inspired by “Generative Agents”)</vt:lpstr>
      <vt:lpstr>3) Tools (Action Layers)</vt:lpstr>
      <vt:lpstr>4) Graph of the learning experience</vt:lpstr>
      <vt:lpstr>5) Technical Skeleton (Python + LangGraph/LangChain)</vt:lpstr>
      <vt:lpstr>6) Learning and System Evaluation</vt:lpstr>
      <vt:lpstr>Briefing for Supervisors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Paloma Pérez De Madrid Laguna</dc:creator>
  <cp:lastModifiedBy>Paloma Pérez De Madrid Laguna</cp:lastModifiedBy>
  <cp:revision>3</cp:revision>
  <dcterms:created xsi:type="dcterms:W3CDTF">2025-11-06T18:45:43Z</dcterms:created>
  <dcterms:modified xsi:type="dcterms:W3CDTF">2026-01-12T16:31:06Z</dcterms:modified>
</cp:coreProperties>
</file>